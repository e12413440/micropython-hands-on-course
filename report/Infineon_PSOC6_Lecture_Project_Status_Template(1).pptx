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heme/theme2.xml" ContentType="application/vnd.openxmlformats-officedocument.them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heme/theme3.xml" ContentType="application/vnd.openxmlformats-officedocument.them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4"/>
  </p:sldMasterIdLst>
  <p:notesMasterIdLst>
    <p:notesMasterId r:id="rId11"/>
  </p:notesMasterIdLst>
  <p:handoutMasterIdLst>
    <p:handoutMasterId r:id="rId12"/>
  </p:handoutMasterIdLst>
  <p:sldIdLst>
    <p:sldId id="2147471886" r:id="rId5"/>
    <p:sldId id="2147483465" r:id="rId6"/>
    <p:sldId id="2147483462" r:id="rId7"/>
    <p:sldId id="2147483466" r:id="rId8"/>
    <p:sldId id="2147483464" r:id="rId9"/>
    <p:sldId id="2147471884" r:id="rId10"/>
  </p:sldIdLst>
  <p:sldSz cx="12192000" cy="6858000"/>
  <p:notesSz cx="7099300" cy="10234613"/>
  <p:custDataLst>
    <p:tags r:id="rId1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87">
          <p15:clr>
            <a:srgbClr val="A4A3A4"/>
          </p15:clr>
        </p15:guide>
        <p15:guide id="2" orient="horz" pos="638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6262">
          <p15:clr>
            <a:srgbClr val="A4A3A4"/>
          </p15:clr>
        </p15:guide>
        <p15:guide id="5" pos="4186">
          <p15:clr>
            <a:srgbClr val="A4A3A4"/>
          </p15:clr>
        </p15:guide>
        <p15:guide id="6" pos="286">
          <p15:clr>
            <a:srgbClr val="A4A3A4"/>
          </p15:clr>
        </p15:guide>
        <p15:guide id="7" pos="830">
          <p15:clr>
            <a:srgbClr val="A4A3A4"/>
          </p15:clr>
        </p15:guide>
        <p15:guide id="8" pos="38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42E414-1952-433B-97D5-56356CD4551E}" v="706" dt="2026-01-30T11:02:22.515"/>
  </p1510:revLst>
</p1510:revInfo>
</file>

<file path=ppt/tableStyles.xml><?xml version="1.0" encoding="utf-8"?>
<a:tblStyleLst xmlns:a="http://schemas.openxmlformats.org/drawingml/2006/main" def="{69012ECD-51FC-41F1-AA8D-1B2483CD663E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rgbClr val="FFFFFF"/>
              </a:solidFill>
            </a:ln>
          </a:right>
          <a:top>
            <a:ln w="9525" cmpd="sng">
              <a:solidFill>
                <a:srgbClr val="FFFFFF"/>
              </a:solidFill>
            </a:ln>
          </a:top>
          <a:bottom>
            <a:ln w="9525" cmpd="sng">
              <a:solidFill>
                <a:srgbClr val="FFFFFF"/>
              </a:solidFill>
            </a:ln>
          </a:bottom>
          <a:insideH>
            <a:ln w="9525" cmpd="sng">
              <a:solidFill>
                <a:srgbClr val="FFFFFF"/>
              </a:solidFill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lt2"/>
          </a:solidFill>
        </a:fill>
      </a:tcStyle>
    </a:wholeTbl>
    <a:band1H>
      <a:tcStyle>
        <a:tcBdr/>
      </a:tcStyle>
    </a:band1H>
    <a:band2H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H>
    <a:band1V>
      <a:tcStyle>
        <a:tcBdr/>
      </a:tcStyle>
    </a:band1V>
    <a:band2V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V>
    <a:la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49" autoAdjust="0"/>
    <p:restoredTop sz="94696" autoAdjust="0"/>
  </p:normalViewPr>
  <p:slideViewPr>
    <p:cSldViewPr snapToObjects="1" showGuides="1">
      <p:cViewPr varScale="1">
        <p:scale>
          <a:sx n="111" d="100"/>
          <a:sy n="111" d="100"/>
        </p:scale>
        <p:origin x="1056" y="9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70" d="100"/>
          <a:sy n="70" d="100"/>
        </p:scale>
        <p:origin x="2268" y="42"/>
      </p:cViewPr>
      <p:guideLst>
        <p:guide orient="horz" pos="187"/>
        <p:guide orient="horz" pos="638"/>
        <p:guide orient="horz" pos="453"/>
        <p:guide orient="horz" pos="6262"/>
        <p:guide pos="4186"/>
        <p:guide pos="286"/>
        <p:guide pos="830"/>
        <p:guide pos="38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95.xml"/><Relationship Id="rId3" Type="http://schemas.openxmlformats.org/officeDocument/2006/relationships/tags" Target="../tags/tag190.xml"/><Relationship Id="rId7" Type="http://schemas.openxmlformats.org/officeDocument/2006/relationships/tags" Target="../tags/tag194.xml"/><Relationship Id="rId12" Type="http://schemas.openxmlformats.org/officeDocument/2006/relationships/image" Target="../media/image5.png"/><Relationship Id="rId2" Type="http://schemas.openxmlformats.org/officeDocument/2006/relationships/tags" Target="../tags/tag189.xml"/><Relationship Id="rId1" Type="http://schemas.openxmlformats.org/officeDocument/2006/relationships/theme" Target="../theme/theme3.xml"/><Relationship Id="rId6" Type="http://schemas.openxmlformats.org/officeDocument/2006/relationships/tags" Target="../tags/tag193.xml"/><Relationship Id="rId11" Type="http://schemas.openxmlformats.org/officeDocument/2006/relationships/tags" Target="../tags/tag198.xml"/><Relationship Id="rId5" Type="http://schemas.openxmlformats.org/officeDocument/2006/relationships/tags" Target="../tags/tag192.xml"/><Relationship Id="rId10" Type="http://schemas.openxmlformats.org/officeDocument/2006/relationships/tags" Target="../tags/tag197.xml"/><Relationship Id="rId4" Type="http://schemas.openxmlformats.org/officeDocument/2006/relationships/tags" Target="../tags/tag191.xml"/><Relationship Id="rId9" Type="http://schemas.openxmlformats.org/officeDocument/2006/relationships/tags" Target="../tags/tag19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200">
                <a:latin typeface="Tahoma" pitchFamily="34" charset="0"/>
              </a:defRPr>
            </a:lvl1pPr>
          </a:lstStyle>
          <a:p>
            <a:endParaRPr lang="en-US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 hidden="1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algn="ctr"/>
            <a:r>
              <a:rPr lang="en-US" sz="100" b="1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9" name="Date Placeholder" hidden="1"/>
          <p:cNvSpPr>
            <a:spLocks noGrp="1"/>
          </p:cNvSpPr>
          <p:nvPr>
            <p:ph type="dt" sz="quarter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 algn="l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algn="l"/>
            <a:endParaRPr lang="en-US" sz="100" dirty="0">
              <a:noFill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997922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4F5EA4BF-E9AE-43AF-B3B0-E8B2B4D213BF}" type="slidenum">
              <a:rPr lang="en-US" sz="80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/>
              <a:t>‹Nr.›</a:t>
            </a:fld>
            <a:endParaRPr lang="en-US" sz="80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AB77BC53-8E05-4977-B193-6A6AD69A870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89310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8A3F532B-9233-4B6C-A1AE-20F78C1A46B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37922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707F235E-2AB2-45AA-AAE4-3CA5D9E6B28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89310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5B6337D7-EF4A-437B-98C9-7A76CBDDE79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2025.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6" name="empower_classification_attention_placeholder" hidden="1">
            <a:extLst>
              <a:ext uri="{FF2B5EF4-FFF2-40B4-BE49-F238E27FC236}">
                <a16:creationId xmlns:a16="http://schemas.microsoft.com/office/drawing/2014/main" id="{07AA87B6-2D72-4228-A7D0-DDCA437050B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placeholder">
            <a:extLst>
              <a:ext uri="{FF2B5EF4-FFF2-40B4-BE49-F238E27FC236}">
                <a16:creationId xmlns:a16="http://schemas.microsoft.com/office/drawing/2014/main" id="{162FD7ED-CC36-4F26-ADD4-95B9EFF2AE3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17C46F5C-5E8F-4CC2-80E6-B88261E13B5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89309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2025-07-03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26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428692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12" Type="http://schemas.openxmlformats.org/officeDocument/2006/relationships/image" Target="../media/image5.png"/><Relationship Id="rId2" Type="http://schemas.openxmlformats.org/officeDocument/2006/relationships/tags" Target="../tags/tag179.xml"/><Relationship Id="rId1" Type="http://schemas.openxmlformats.org/officeDocument/2006/relationships/theme" Target="../theme/theme2.xml"/><Relationship Id="rId6" Type="http://schemas.openxmlformats.org/officeDocument/2006/relationships/tags" Target="../tags/tag183.xml"/><Relationship Id="rId11" Type="http://schemas.openxmlformats.org/officeDocument/2006/relationships/tags" Target="../tags/tag188.xml"/><Relationship Id="rId5" Type="http://schemas.openxmlformats.org/officeDocument/2006/relationships/tags" Target="../tags/tag182.xml"/><Relationship Id="rId10" Type="http://schemas.openxmlformats.org/officeDocument/2006/relationships/tags" Target="../tags/tag187.xml"/><Relationship Id="rId4" Type="http://schemas.openxmlformats.org/officeDocument/2006/relationships/tags" Target="../tags/tag181.xml"/><Relationship Id="rId9" Type="http://schemas.openxmlformats.org/officeDocument/2006/relationships/tags" Target="../tags/tag18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1012825"/>
            <a:ext cx="6191250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de-AT"/>
          </a:p>
        </p:txBody>
      </p:sp>
      <p:sp>
        <p:nvSpPr>
          <p:cNvPr id="84997" name="Notes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3306" y="4757266"/>
            <a:ext cx="6191968" cy="47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Enter Notes</a:t>
            </a:r>
          </a:p>
        </p:txBody>
      </p:sp>
      <p:sp>
        <p:nvSpPr>
          <p:cNvPr id="28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00"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sz="100" dirty="0"/>
          </a:p>
        </p:txBody>
      </p:sp>
      <p:sp>
        <p:nvSpPr>
          <p:cNvPr id="10" name="Footer Placeholder" hidden="1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11" name="Date Placeholder" hidden="1"/>
          <p:cNvSpPr>
            <a:spLocks noGrp="1"/>
          </p:cNvSpPr>
          <p:nvPr>
            <p:ph type="dt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6033274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92828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‹Nr.›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E8AE2277-2635-47CE-8461-F921E010AD6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53306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1ED6373F-3656-4DFD-9B9C-BC0ABABA2CB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73274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3D3123B4-E08C-4CCD-9703-AD1F689F1FB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53306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7E51E007-F5B3-45C7-900F-9B0FFE9F37F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2025.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attention_placeholder" hidden="1">
            <a:extLst>
              <a:ext uri="{FF2B5EF4-FFF2-40B4-BE49-F238E27FC236}">
                <a16:creationId xmlns:a16="http://schemas.microsoft.com/office/drawing/2014/main" id="{CD1E0C77-9862-4B96-A3C1-8F3320EB533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empower_classification_placeholder">
            <a:extLst>
              <a:ext uri="{FF2B5EF4-FFF2-40B4-BE49-F238E27FC236}">
                <a16:creationId xmlns:a16="http://schemas.microsoft.com/office/drawing/2014/main" id="{9F464BB7-63C3-4B8A-A50E-5FC32FA6A18F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empower_date_placeholder">
            <a:extLst>
              <a:ext uri="{FF2B5EF4-FFF2-40B4-BE49-F238E27FC236}">
                <a16:creationId xmlns:a16="http://schemas.microsoft.com/office/drawing/2014/main" id="{7E930412-6BBA-43BF-B0D5-11DDE46E471E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53306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2025-07-03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32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00418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2.jpeg"/><Relationship Id="rId5" Type="http://schemas.openxmlformats.org/officeDocument/2006/relationships/tags" Target="../tags/tag1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../media/image1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3.jpeg"/><Relationship Id="rId5" Type="http://schemas.openxmlformats.org/officeDocument/2006/relationships/tags" Target="../tags/tag1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8.xml"/><Relationship Id="rId9" Type="http://schemas.openxmlformats.org/officeDocument/2006/relationships/tags" Target="../tags/tag23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image" Target="../media/image1.png"/><Relationship Id="rId5" Type="http://schemas.openxmlformats.org/officeDocument/2006/relationships/tags" Target="../tags/tag2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7.xml"/><Relationship Id="rId9" Type="http://schemas.openxmlformats.org/officeDocument/2006/relationships/tags" Target="../tags/tag32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tags" Target="../tags/tag56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5" Type="http://schemas.openxmlformats.org/officeDocument/2006/relationships/tags" Target="../tags/tag49.xml"/><Relationship Id="rId10" Type="http://schemas.openxmlformats.org/officeDocument/2006/relationships/tags" Target="../tags/tag54.xml"/><Relationship Id="rId4" Type="http://schemas.openxmlformats.org/officeDocument/2006/relationships/tags" Target="../tags/tag48.xml"/><Relationship Id="rId9" Type="http://schemas.openxmlformats.org/officeDocument/2006/relationships/tags" Target="../tags/tag53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0" Type="http://schemas.openxmlformats.org/officeDocument/2006/relationships/tags" Target="../tags/tag66.xml"/><Relationship Id="rId4" Type="http://schemas.openxmlformats.org/officeDocument/2006/relationships/tags" Target="../tags/tag60.xml"/><Relationship Id="rId9" Type="http://schemas.openxmlformats.org/officeDocument/2006/relationships/tags" Target="../tags/tag65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5" Type="http://schemas.openxmlformats.org/officeDocument/2006/relationships/tags" Target="../tags/tag80.xml"/><Relationship Id="rId10" Type="http://schemas.openxmlformats.org/officeDocument/2006/relationships/tags" Target="../tags/tag85.xml"/><Relationship Id="rId4" Type="http://schemas.openxmlformats.org/officeDocument/2006/relationships/tags" Target="../tags/tag79.xml"/><Relationship Id="rId9" Type="http://schemas.openxmlformats.org/officeDocument/2006/relationships/tags" Target="../tags/tag84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tags" Target="../tags/tag99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5" Type="http://schemas.openxmlformats.org/officeDocument/2006/relationships/tags" Target="../tags/tag92.xml"/><Relationship Id="rId10" Type="http://schemas.openxmlformats.org/officeDocument/2006/relationships/tags" Target="../tags/tag97.xml"/><Relationship Id="rId4" Type="http://schemas.openxmlformats.org/officeDocument/2006/relationships/tags" Target="../tags/tag91.xml"/><Relationship Id="rId9" Type="http://schemas.openxmlformats.org/officeDocument/2006/relationships/tags" Target="../tags/tag96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12" Type="http://schemas.openxmlformats.org/officeDocument/2006/relationships/tags" Target="../tags/tag111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tags" Target="../tags/tag110.xml"/><Relationship Id="rId5" Type="http://schemas.openxmlformats.org/officeDocument/2006/relationships/tags" Target="../tags/tag104.xml"/><Relationship Id="rId10" Type="http://schemas.openxmlformats.org/officeDocument/2006/relationships/tags" Target="../tags/tag109.xml"/><Relationship Id="rId4" Type="http://schemas.openxmlformats.org/officeDocument/2006/relationships/tags" Target="../tags/tag103.xml"/><Relationship Id="rId9" Type="http://schemas.openxmlformats.org/officeDocument/2006/relationships/tags" Target="../tags/tag108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0" Type="http://schemas.openxmlformats.org/officeDocument/2006/relationships/tags" Target="../tags/tag121.xml"/><Relationship Id="rId4" Type="http://schemas.openxmlformats.org/officeDocument/2006/relationships/tags" Target="../tags/tag115.xml"/><Relationship Id="rId9" Type="http://schemas.openxmlformats.org/officeDocument/2006/relationships/tags" Target="../tags/tag120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tags" Target="../tags/tag135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tags" Target="../tags/tag134.xml"/><Relationship Id="rId5" Type="http://schemas.openxmlformats.org/officeDocument/2006/relationships/tags" Target="../tags/tag128.xml"/><Relationship Id="rId10" Type="http://schemas.openxmlformats.org/officeDocument/2006/relationships/tags" Target="../tags/tag133.xml"/><Relationship Id="rId4" Type="http://schemas.openxmlformats.org/officeDocument/2006/relationships/tags" Target="../tags/tag127.xml"/><Relationship Id="rId9" Type="http://schemas.openxmlformats.org/officeDocument/2006/relationships/tags" Target="../tags/tag13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5" Type="http://schemas.openxmlformats.org/officeDocument/2006/relationships/tags" Target="../tags/tag140.xml"/><Relationship Id="rId10" Type="http://schemas.openxmlformats.org/officeDocument/2006/relationships/tags" Target="../tags/tag145.xml"/><Relationship Id="rId4" Type="http://schemas.openxmlformats.org/officeDocument/2006/relationships/tags" Target="../tags/tag139.xml"/><Relationship Id="rId9" Type="http://schemas.openxmlformats.org/officeDocument/2006/relationships/tags" Target="../tags/tag144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12" Type="http://schemas.openxmlformats.org/officeDocument/2006/relationships/tags" Target="../tags/tag159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tags" Target="../tags/tag158.xml"/><Relationship Id="rId5" Type="http://schemas.openxmlformats.org/officeDocument/2006/relationships/tags" Target="../tags/tag152.xml"/><Relationship Id="rId10" Type="http://schemas.openxmlformats.org/officeDocument/2006/relationships/tags" Target="../tags/tag157.xml"/><Relationship Id="rId4" Type="http://schemas.openxmlformats.org/officeDocument/2006/relationships/tags" Target="../tags/tag151.xml"/><Relationship Id="rId9" Type="http://schemas.openxmlformats.org/officeDocument/2006/relationships/tags" Target="../tags/tag156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5" Type="http://schemas.openxmlformats.org/officeDocument/2006/relationships/tags" Target="../tags/tag16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76.xml"/><Relationship Id="rId7" Type="http://schemas.openxmlformats.org/officeDocument/2006/relationships/image" Target="../media/image1.png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8.xml"/><Relationship Id="rId4" Type="http://schemas.openxmlformats.org/officeDocument/2006/relationships/tags" Target="../tags/tag17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61232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05BA39DF-1C65-465A-9ECA-C35A3F0705E9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328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91533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07432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7271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257007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701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r>
              <a:rPr lang="en-US" b="1"/>
              <a:t> 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3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en-US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‹Nr.›</a:t>
            </a:fld>
            <a:endParaRPr lang="en-US" sz="800" b="1" kern="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55" r:id="rId2"/>
    <p:sldLayoutId id="2147483751" r:id="rId3"/>
    <p:sldLayoutId id="2147483729" r:id="rId4"/>
    <p:sldLayoutId id="2147483730" r:id="rId5"/>
    <p:sldLayoutId id="2147483731" r:id="rId6"/>
    <p:sldLayoutId id="2147483747" r:id="rId7"/>
    <p:sldLayoutId id="2147483756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54" r:id="rId17"/>
    <p:sldLayoutId id="2147483753" r:id="rId18"/>
  </p:sldLayoutIdLst>
  <p:hf sldNum="0" hdr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1F336-0D6F-6FA2-1006-D7E7DB23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3DC7-53DF-FD31-5C55-0AFE47E4E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685C83-F257-3377-8CB6-83E61FC51237}"/>
              </a:ext>
            </a:extLst>
          </p:cNvPr>
          <p:cNvSpPr/>
          <p:nvPr/>
        </p:nvSpPr>
        <p:spPr bwMode="auto">
          <a:xfrm>
            <a:off x="334962" y="980728"/>
            <a:ext cx="11522076" cy="828438"/>
          </a:xfrm>
          <a:prstGeom prst="roundRect">
            <a:avLst>
              <a:gd name="adj" fmla="val 9662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Team: </a:t>
            </a:r>
            <a:r>
              <a:rPr lang="en-US" sz="2000" b="1" i="1" dirty="0">
                <a:solidFill>
                  <a:schemeClr val="bg1"/>
                </a:solidFill>
                <a:latin typeface="+mn-lt"/>
              </a:rPr>
              <a:t>T</a:t>
            </a:r>
            <a:r>
              <a:rPr lang="en-US" sz="2000" b="1" i="1" baseline="30000" dirty="0">
                <a:solidFill>
                  <a:schemeClr val="bg1"/>
                </a:solidFill>
                <a:latin typeface="+mn-lt"/>
              </a:rPr>
              <a:t>2</a:t>
            </a:r>
            <a:r>
              <a:rPr lang="en-US" sz="2000" b="1" i="1" dirty="0">
                <a:solidFill>
                  <a:schemeClr val="bg1"/>
                </a:solidFill>
                <a:latin typeface="+mn-lt"/>
              </a:rPr>
              <a:t>C</a:t>
            </a:r>
            <a:endParaRPr lang="en-US" sz="2000" b="1" i="1" baseline="30000" dirty="0">
              <a:solidFill>
                <a:schemeClr val="bg1"/>
              </a:solidFill>
              <a:latin typeface="+mn-lt"/>
            </a:endParaRPr>
          </a:p>
          <a:p>
            <a:pPr defTabSz="576000" eaLnBrk="0" hangingPunct="0">
              <a:lnSpc>
                <a:spcPct val="120000"/>
              </a:lnSpc>
            </a:pPr>
            <a:r>
              <a:rPr lang="en-US" sz="1200" i="1" dirty="0">
                <a:solidFill>
                  <a:schemeClr val="bg1"/>
                </a:solidFill>
                <a:latin typeface="+mn-lt"/>
              </a:rPr>
              <a:t>Team Members:</a:t>
            </a:r>
            <a:r>
              <a:rPr lang="en-US" sz="1600" i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200" i="1" dirty="0">
                <a:solidFill>
                  <a:schemeClr val="bg1"/>
                </a:solidFill>
                <a:latin typeface="+mn-lt"/>
              </a:rPr>
              <a:t>Theo </a:t>
            </a:r>
            <a:r>
              <a:rPr lang="en-US" sz="1200" i="1" dirty="0" err="1">
                <a:solidFill>
                  <a:schemeClr val="bg1"/>
                </a:solidFill>
                <a:latin typeface="+mn-lt"/>
              </a:rPr>
              <a:t>Corneux</a:t>
            </a:r>
            <a:r>
              <a:rPr lang="en-US" sz="1200" i="1" dirty="0">
                <a:solidFill>
                  <a:schemeClr val="bg1"/>
                </a:solidFill>
                <a:latin typeface="+mn-lt"/>
              </a:rPr>
              <a:t>, Tobias Holzner, Tobias </a:t>
            </a:r>
            <a:r>
              <a:rPr lang="en-US" sz="1200" i="1" dirty="0" err="1">
                <a:solidFill>
                  <a:schemeClr val="bg1"/>
                </a:solidFill>
                <a:latin typeface="+mn-lt"/>
              </a:rPr>
              <a:t>Riedelberger</a:t>
            </a:r>
            <a:endParaRPr lang="en-US" sz="1600" i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9B85944-9077-6029-109A-BDF1818F5406}"/>
              </a:ext>
            </a:extLst>
          </p:cNvPr>
          <p:cNvSpPr/>
          <p:nvPr/>
        </p:nvSpPr>
        <p:spPr bwMode="auto">
          <a:xfrm>
            <a:off x="336449" y="2223329"/>
            <a:ext cx="3671832" cy="414227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the Introduction Lecture 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Data Acquisition of right hand boxing punches from different people including uppercut, straight hit and </a:t>
            </a:r>
            <a:r>
              <a:rPr lang="en-US" dirty="0" err="1">
                <a:solidFill>
                  <a:schemeClr val="tx1"/>
                </a:solidFill>
              </a:rPr>
              <a:t>sidehook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Construction of battery &amp; PSOC6 holder 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3d printed prototype of said holder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Tried out data acquisition for punches of both hands using two separate boxing gloves.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E8B6BC-7043-0B40-D795-FBC70E8DE10B}"/>
              </a:ext>
            </a:extLst>
          </p:cNvPr>
          <p:cNvSpPr/>
          <p:nvPr/>
        </p:nvSpPr>
        <p:spPr bwMode="auto">
          <a:xfrm>
            <a:off x="4259796" y="2241136"/>
            <a:ext cx="3671832" cy="414227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Create classification project for collected data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Generating models and trying out different parameters to achieve the best outcome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Start the training job and evaluate the results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Convert the model and load it onto the PSOC6 board.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Write code in Thonny to use IMU on PSOC6 board using the IMU-Library 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594D580-9002-884A-0777-FDA16C0D1006}"/>
              </a:ext>
            </a:extLst>
          </p:cNvPr>
          <p:cNvSpPr/>
          <p:nvPr/>
        </p:nvSpPr>
        <p:spPr bwMode="auto">
          <a:xfrm>
            <a:off x="8184232" y="2241136"/>
            <a:ext cx="3671832" cy="414061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Usefulness of collecting data for both hands (Maybe use the Rotate IMU Node to differ between inputs)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Is it possible to create custom nodes? Want to use them for discrete Integration to calculate maximum velocity of the punch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Should we focus on data from just one person for now or include many varying punch speeds and “techniques” from different people? </a:t>
            </a: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229B8C7E-93CB-4945-83F5-F5BA8AD828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B00BEB-4464-C39B-CD65-561455D46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A478E1-5E62-D9A2-274C-BE38EB614665}"/>
              </a:ext>
            </a:extLst>
          </p:cNvPr>
          <p:cNvSpPr txBox="1"/>
          <p:nvPr/>
        </p:nvSpPr>
        <p:spPr bwMode="auto">
          <a:xfrm>
            <a:off x="336449" y="1858213"/>
            <a:ext cx="467943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dirty="0">
                <a:solidFill>
                  <a:srgbClr val="0A8276"/>
                </a:solidFill>
                <a:latin typeface="+mn-lt"/>
              </a:rPr>
              <a:t>1. Progress report</a:t>
            </a:r>
            <a:endParaRPr lang="en-US" sz="1800" b="1" kern="0" baseline="0" dirty="0">
              <a:solidFill>
                <a:srgbClr val="0A8276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036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 descr="Ein Bild, das computer, Im Haus, Everyday Carry, Zubehör enthält.&#10;&#10;KI-generierte Inhalte können fehlerhaft sein.">
            <a:extLst>
              <a:ext uri="{FF2B5EF4-FFF2-40B4-BE49-F238E27FC236}">
                <a16:creationId xmlns:a16="http://schemas.microsoft.com/office/drawing/2014/main" id="{87A63A1D-A232-C8A8-4377-620004853E5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03" y="1124744"/>
            <a:ext cx="3835002" cy="5113337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F5A3090F-BB90-0D0F-BE39-C5FD411F3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Progress-</a:t>
            </a:r>
            <a:r>
              <a:rPr lang="de-AT" dirty="0" err="1"/>
              <a:t>Documentation</a:t>
            </a:r>
            <a:endParaRPr lang="de-AT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9A58B0-DBB7-F659-6AB1-EC67C131758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05CA16-7C6F-651B-C72E-6B324591B3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Grafik 8" descr="Ein Bild, das Elektronik, Elektrisches Bauelement, Computerkomponenten, Elektronisches Bauteil enthält.&#10;&#10;KI-generierte Inhalte können fehlerhaft sein.">
            <a:extLst>
              <a:ext uri="{FF2B5EF4-FFF2-40B4-BE49-F238E27FC236}">
                <a16:creationId xmlns:a16="http://schemas.microsoft.com/office/drawing/2014/main" id="{5E865CAB-CECE-9DAF-F479-762A6EC97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873" y="1124744"/>
            <a:ext cx="2876253" cy="5113337"/>
          </a:xfrm>
          <a:prstGeom prst="rect">
            <a:avLst/>
          </a:prstGeom>
        </p:spPr>
      </p:pic>
      <p:pic>
        <p:nvPicPr>
          <p:cNvPr id="11" name="Grafik 10" descr="Ein Bild, das computer, Computer, Schuhwerk, Elektronik enthält.&#10;&#10;KI-generierte Inhalte können fehlerhaft sein.">
            <a:extLst>
              <a:ext uri="{FF2B5EF4-FFF2-40B4-BE49-F238E27FC236}">
                <a16:creationId xmlns:a16="http://schemas.microsoft.com/office/drawing/2014/main" id="{3840C3F0-1DA6-71D2-7F8C-2C503975BC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162" y="1124744"/>
            <a:ext cx="3835003" cy="511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776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23CA5-6DA2-651C-BD83-BDEA5488F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B2F36-48B0-0265-7F67-4B88CA0D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9AF7E8-F97B-94F3-3D60-545030548D5A}"/>
              </a:ext>
            </a:extLst>
          </p:cNvPr>
          <p:cNvSpPr/>
          <p:nvPr/>
        </p:nvSpPr>
        <p:spPr bwMode="auto">
          <a:xfrm>
            <a:off x="336449" y="1340690"/>
            <a:ext cx="3671832" cy="5024913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last meeting: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Design and print of newer holder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Acquisition of more training data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Reassessment of the labeling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Training of models with variation in given data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Work on reading the data of the IMU and writing it back via TCP/IP through Tera Term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Work on writing data of each boxing session onto webserver (</a:t>
            </a:r>
            <a:r>
              <a:rPr lang="en-US" dirty="0" err="1">
                <a:solidFill>
                  <a:schemeClr val="tx1"/>
                </a:solidFill>
              </a:rPr>
              <a:t>Ubidots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6F909A-F2F8-F878-AD4A-C9E94BCA7C03}"/>
              </a:ext>
            </a:extLst>
          </p:cNvPr>
          <p:cNvSpPr/>
          <p:nvPr/>
        </p:nvSpPr>
        <p:spPr bwMode="auto">
          <a:xfrm>
            <a:off x="4259796" y="1340690"/>
            <a:ext cx="3671832" cy="504272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Read out of maximum velocity and current punch through Tera Term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Optimizing parameters to achieve highest accuracy 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Creating an interactive dashboard for webserver interface 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Implementing the model in micro python into Thonny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8F61695-F649-2A7E-8E53-939676CF1BA7}"/>
              </a:ext>
            </a:extLst>
          </p:cNvPr>
          <p:cNvSpPr/>
          <p:nvPr/>
        </p:nvSpPr>
        <p:spPr bwMode="auto">
          <a:xfrm>
            <a:off x="8195487" y="1342350"/>
            <a:ext cx="3671832" cy="504106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Battery ran out of power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Models' accuracy did not reach desired levels (Question if Labels are not set right or data is not enough…)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Changed names of sessions afterwards which lead to DeepCraft not finding/ having problems with the files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Purpose of preprocessor track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Reading the data out of the IMU only possible for a restricted time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387F073D-0D6E-EDCA-9311-FF20E66F53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31E644-B391-AA7A-A4BF-B052E5E72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85F658-1D39-7370-1310-42E77216608B}"/>
              </a:ext>
            </a:extLst>
          </p:cNvPr>
          <p:cNvSpPr txBox="1"/>
          <p:nvPr/>
        </p:nvSpPr>
        <p:spPr bwMode="auto">
          <a:xfrm>
            <a:off x="334963" y="973766"/>
            <a:ext cx="477571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dirty="0">
                <a:solidFill>
                  <a:srgbClr val="0A8276"/>
                </a:solidFill>
                <a:latin typeface="+mn-lt"/>
              </a:rPr>
              <a:t>2. Progress report</a:t>
            </a:r>
            <a:endParaRPr lang="en-US" sz="1800" b="1" kern="0" baseline="0" dirty="0">
              <a:solidFill>
                <a:srgbClr val="0A8276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7705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C61B7-1909-A520-4F33-6BAFD7A57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2C27337-A2EC-704C-3006-C37B918B7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Progress-</a:t>
            </a:r>
            <a:r>
              <a:rPr lang="de-AT" dirty="0" err="1"/>
              <a:t>Documentation</a:t>
            </a:r>
            <a:endParaRPr lang="de-AT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DBEEB2-B543-C493-BB15-20B436223EC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EAF800-3722-C681-9E42-B2886DD857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Inhaltsplatzhalter 9" descr="Ein Bild, das Text, Software, Computersymbol, Zahl enthält.&#10;&#10;KI-generierte Inhalte können fehlerhaft sein.">
            <a:extLst>
              <a:ext uri="{FF2B5EF4-FFF2-40B4-BE49-F238E27FC236}">
                <a16:creationId xmlns:a16="http://schemas.microsoft.com/office/drawing/2014/main" id="{73187ACD-0C6E-53AA-A317-A2CCD9434D2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1268413"/>
            <a:ext cx="10343033" cy="511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169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580DE-651B-773A-CEE6-5168AC529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DE06-B78E-061E-C628-40B6A83B4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185B5B-3EEF-5A52-81E6-FB683090E542}"/>
              </a:ext>
            </a:extLst>
          </p:cNvPr>
          <p:cNvSpPr/>
          <p:nvPr/>
        </p:nvSpPr>
        <p:spPr bwMode="auto">
          <a:xfrm>
            <a:off x="336449" y="1340690"/>
            <a:ext cx="3671832" cy="5024913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last meeting: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Collected more data to further increase accuracy of classification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Generated code to use for </a:t>
            </a:r>
            <a:r>
              <a:rPr lang="en-US" dirty="0" err="1">
                <a:solidFill>
                  <a:schemeClr val="tx1"/>
                </a:solidFill>
              </a:rPr>
              <a:t>Micropython</a:t>
            </a:r>
            <a:r>
              <a:rPr lang="en-US" dirty="0">
                <a:solidFill>
                  <a:schemeClr val="tx1"/>
                </a:solidFill>
              </a:rPr>
              <a:t> program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Converted model using the </a:t>
            </a:r>
            <a:r>
              <a:rPr lang="en-US" dirty="0" err="1">
                <a:solidFill>
                  <a:schemeClr val="tx1"/>
                </a:solidFill>
              </a:rPr>
              <a:t>Deepcraft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Micropython</a:t>
            </a:r>
            <a:r>
              <a:rPr lang="en-US" dirty="0">
                <a:solidFill>
                  <a:schemeClr val="tx1"/>
                </a:solidFill>
              </a:rPr>
              <a:t> converter.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Implemented model into MP program 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577FB4-4321-1005-383F-7911A4F8B988}"/>
              </a:ext>
            </a:extLst>
          </p:cNvPr>
          <p:cNvSpPr/>
          <p:nvPr/>
        </p:nvSpPr>
        <p:spPr bwMode="auto">
          <a:xfrm>
            <a:off x="4259796" y="1340690"/>
            <a:ext cx="3671832" cy="504272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Finish up, try out finished project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Create final presentation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Show what you have planned for the project presentation and your submission, you have more room on the next slide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5F3E40-A49E-57F0-F7EF-647017409004}"/>
              </a:ext>
            </a:extLst>
          </p:cNvPr>
          <p:cNvSpPr/>
          <p:nvPr/>
        </p:nvSpPr>
        <p:spPr bwMode="auto">
          <a:xfrm>
            <a:off x="8184232" y="1340690"/>
            <a:ext cx="3671832" cy="504106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How much data do we need to enqueue before we can dequeue a result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Does the frequency of how often we enqueue data have to match with the sampling frequency we used for our data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Code generation only worked for one group member 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Model conversion was confusing (documentation was not very helpful, errors occurred while running the </a:t>
            </a:r>
            <a:r>
              <a:rPr lang="en-US" dirty="0" err="1">
                <a:solidFill>
                  <a:schemeClr val="tx1"/>
                </a:solidFill>
              </a:rPr>
              <a:t>pyscript</a:t>
            </a:r>
            <a:r>
              <a:rPr lang="en-US" dirty="0">
                <a:solidFill>
                  <a:schemeClr val="tx1"/>
                </a:solidFill>
              </a:rPr>
              <a:t> in the console (Make file, </a:t>
            </a:r>
            <a:r>
              <a:rPr lang="en-US" dirty="0" err="1">
                <a:solidFill>
                  <a:schemeClr val="tx1"/>
                </a:solidFill>
              </a:rPr>
              <a:t>elftools</a:t>
            </a:r>
            <a:r>
              <a:rPr lang="en-US" dirty="0">
                <a:solidFill>
                  <a:schemeClr val="tx1"/>
                </a:solidFill>
              </a:rPr>
              <a:t> not found))</a:t>
            </a: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09BA7BD7-1F97-D634-2A37-36CBC92380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9A3A1A-D6DF-9BCA-DB3C-5985BC5EB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5281BF-3B1F-087D-BB44-B86DF257FC17}"/>
              </a:ext>
            </a:extLst>
          </p:cNvPr>
          <p:cNvSpPr txBox="1"/>
          <p:nvPr/>
        </p:nvSpPr>
        <p:spPr bwMode="auto">
          <a:xfrm>
            <a:off x="431243" y="973766"/>
            <a:ext cx="467943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</a:pPr>
            <a:r>
              <a:rPr lang="en-US" sz="1800" b="1" kern="0" dirty="0">
                <a:solidFill>
                  <a:srgbClr val="0A8276"/>
                </a:solidFill>
              </a:rPr>
              <a:t>3. Progress report</a:t>
            </a:r>
          </a:p>
        </p:txBody>
      </p:sp>
    </p:spTree>
    <p:extLst>
      <p:ext uri="{BB962C8B-B14F-4D97-AF65-F5344CB8AC3E}">
        <p14:creationId xmlns:p14="http://schemas.microsoft.com/office/powerpoint/2010/main" val="3695367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DE66A6-5783-448B-93CC-115A7583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Infineon PSOC6 Lecture presentation and final submission plans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BADBD7-5C4F-4271-90BC-DE806B29B74C}"/>
              </a:ext>
            </a:extLst>
          </p:cNvPr>
          <p:cNvSpPr/>
          <p:nvPr/>
        </p:nvSpPr>
        <p:spPr bwMode="auto">
          <a:xfrm>
            <a:off x="335360" y="1268413"/>
            <a:ext cx="11521678" cy="5078725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Short project presentation: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Present idea behind project and show data of every single punch and visualize the differences. 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Show our constructed device to hold the PSOC6 and battery and how it is used on the boxing glove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Talk about the problems we faced while collecting data, labelling and trying to generate a model using our data combined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Show the final classification we used for the model and the Test-Score of the model we ended up using for our </a:t>
            </a:r>
            <a:r>
              <a:rPr lang="en-US" dirty="0" err="1">
                <a:solidFill>
                  <a:schemeClr val="tx1"/>
                </a:solidFill>
              </a:rPr>
              <a:t>Micropython</a:t>
            </a:r>
            <a:r>
              <a:rPr lang="en-US" dirty="0">
                <a:solidFill>
                  <a:schemeClr val="tx1"/>
                </a:solidFill>
              </a:rPr>
              <a:t> application on the PSOC6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Show the </a:t>
            </a:r>
            <a:r>
              <a:rPr lang="en-US" dirty="0" err="1">
                <a:solidFill>
                  <a:schemeClr val="tx1"/>
                </a:solidFill>
              </a:rPr>
              <a:t>Micropython</a:t>
            </a:r>
            <a:r>
              <a:rPr lang="en-US" dirty="0">
                <a:solidFill>
                  <a:schemeClr val="tx1"/>
                </a:solidFill>
              </a:rPr>
              <a:t> code and talk about the most important parts to provide a rough outline of the components and their functionality (Webserver, Read IMU-Data, how the model is used, …)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Demonstrate the functionality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Any special equipment need for demo at the demo Day ?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 Volunteer ;)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5954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CLMASTER" val="0"/>
  <p:tag name="SLIDESPERROW" val="4"/>
  <p:tag name="THUMBWIDTH" val="220"/>
  <p:tag name="INFINEON_CATEGORY" val="{&quot;CategoryList&quot;:[],&quot;CategoryDictionary&quot;:{}}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10GBAEGmsRCrWeMKWDzcgcEAAAAAAADAAAAAAADAAAAAwADAAIA////////BQAAAAMAEAAL1tOUau8zpU2NYkRIb9lDWQQAAAABAAMAAAACAAMAAAAEAAMAAAAAAAMAAAAEAAQAAgD///////8FAAAABAAQAAtU0aCsIfNqT7UjuaR5MIJhBAAAAAIAAwAAAAMAAwAAAAEA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XQYEAQaaxEKtZ4wpYPNyBwNEYXRhABsAAAAETGlua2VkU2hhcGVEYXRhAAUAAAAAAAJOYW1lABkAAABMaW5rZWRTaGFwZXNEYXRhUHJvcGVydHkAEFZlcnNpb24AAAAAAAlMYXN0V3JpdGUAQe86A4IBAAAAAQD/////gwCDAAAABV9pZAAQAAAABNbTlGrvM6VNjWJESG/ZQ1kDRGF0YQAbAAAABExpbmtlZFNoYXBlRGF0YQAFAAAAAAACTmFtZQAZAAAATGlua2VkU2hhcGVzRGF0YVByb3BlcnR5ABBWZXJzaW9uAAEAAAAJTGFzdFdyaXRlAPjPZFaOAQAAAAIA/////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VCwAAAAAAAAAAAAAgAf///////////////wAAAP////////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AEAAAAAAAFAAAABAAFAAAAAwADAAIBAwAAAAMA////////GgAGTGlua2VkU2hhcGVzRGF0YVByb3BlcnR5XzEEAAAAAQAFAAAAAgAFAAAAAQAFAAAABAD///////8EAAIBAwAAAAQA////////JQAGTGlua2VkU2hhcGVQcmVzZW50YXRpb25TZXR0aW5nc0RhdGFfMAQAAAACAAUAAAAAAAUAAAACAAUAAAAA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464432312502879"/>
  <p:tag name="EMPOWERCHARTSPROPERTIES_A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VOID_BLANK_LAYOUT" val="False"/>
  <p:tag name="MIO_CD_LAYOUT_VALID_AREA" val="False"/>
  <p:tag name="MIO_CDID" val="e2fc2f9e-d5cf-4311-b3a1-0559b8fd1ab8"/>
  <p:tag name="MIO_CONTENTTAG" val="HUQ1gT/F8ESnR8/z2T2utA=="/>
  <p:tag name="MIO_DBID" val="FDE84254-54DB-49E3-9A0E-CDE72035D530"/>
  <p:tag name="MIO_EKGUID" val="f8120ca7-cceb-428f-a7d0-f20ce9397e1b"/>
  <p:tag name="MIO_EMBED_FONT" val="False"/>
  <p:tag name="MIO_FALLBACK_LAYOUT" val="4"/>
  <p:tag name="MIO_HDS" val="True"/>
  <p:tag name="MIO_LASTDOWNLOADED" val="20.03.2024 09:27:02.961"/>
  <p:tag name="MIO_MATCH_COLOR_SCHEME" val="True"/>
  <p:tag name="MIO_NUMBER_OF_VALID_LAYOUTS" val="18"/>
  <p:tag name="MIO_OBJECTNAME" val="Infineon LCD 16:9"/>
  <p:tag name="MIO_SHOW_DATE" val="False"/>
  <p:tag name="MIO_SHOW_FOOTER" val="False"/>
  <p:tag name="MIO_SHOW_PAGENUMBER" val="False"/>
  <p:tag name="MIO_SKIPVERSION" val="01.01.0001 00:00:00"/>
  <p:tag name="MIO_UPDATE" val="True"/>
  <p:tag name="MIO_VERSION" val="19.03.2024 12:54: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" id="{9073308C-F199-48EC-BC12-9A41A62831D5}" vid="{7D21EA35-C075-470B-9826-1EEC27A93A3F}"/>
    </a:ext>
  </a:extLst>
</a:theme>
</file>

<file path=ppt/theme/theme2.xml><?xml version="1.0" encoding="utf-8"?>
<a:theme xmlns:a="http://schemas.openxmlformats.org/drawingml/2006/main" name="Larissa-Design">
  <a:themeElements>
    <a:clrScheme name="Infineo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Infineon_ColorTheme_2012">
      <a:dk1>
        <a:srgbClr val="00214A"/>
      </a:dk1>
      <a:lt1>
        <a:srgbClr val="FFFFFF"/>
      </a:lt1>
      <a:dk2>
        <a:srgbClr val="00214A"/>
      </a:dk2>
      <a:lt2>
        <a:srgbClr val="C8D8E6"/>
      </a:lt2>
      <a:accent1>
        <a:srgbClr val="B70D28"/>
      </a:accent1>
      <a:accent2>
        <a:srgbClr val="E3EBF2"/>
      </a:accent2>
      <a:accent3>
        <a:srgbClr val="005DA9"/>
      </a:accent3>
      <a:accent4>
        <a:srgbClr val="969696"/>
      </a:accent4>
      <a:accent5>
        <a:srgbClr val="FDC400"/>
      </a:accent5>
      <a:accent6>
        <a:srgbClr val="009651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908744A1DC0E459D19409169BD101C" ma:contentTypeVersion="10" ma:contentTypeDescription="Create a new document." ma:contentTypeScope="" ma:versionID="d0a38bccec903cc7fc917c43126213b1">
  <xsd:schema xmlns:xsd="http://www.w3.org/2001/XMLSchema" xmlns:xs="http://www.w3.org/2001/XMLSchema" xmlns:p="http://schemas.microsoft.com/office/2006/metadata/properties" xmlns:ns1="http://schemas.microsoft.com/sharepoint/v3" xmlns:ns2="3df75a81-b7cb-4783-ab8b-190cb7919186" targetNamespace="http://schemas.microsoft.com/office/2006/metadata/properties" ma:root="true" ma:fieldsID="18817bea9ddb899bcb71e34dfb063dcd" ns1:_="" ns2:_="">
    <xsd:import namespace="http://schemas.microsoft.com/sharepoint/v3"/>
    <xsd:import namespace="3df75a81-b7cb-4783-ab8b-190cb79191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f75a81-b7cb-4783-ab8b-190cb79191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E621A0-1E67-4A33-AC30-1B8333BDE1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df75a81-b7cb-4783-ab8b-190cb79191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99A1D5-F553-4264-9022-E0136C61CE27}">
  <ds:schemaRefs>
    <ds:schemaRef ds:uri="http://schemas.microsoft.com/office/infopath/2007/PartnerControls"/>
    <ds:schemaRef ds:uri="3df75a81-b7cb-4783-ab8b-190cb7919186"/>
    <ds:schemaRef ds:uri="http://purl.org/dc/elements/1.1/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a15a25aa-e944-415d-b7a7-40f6b9180b6b}" enabled="1" method="Standard" siteId="{eeb8d0e8-3544-41d3-aac6-934c309faf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681</Words>
  <Application>Microsoft Office PowerPoint</Application>
  <PresentationFormat>Breitbild</PresentationFormat>
  <Paragraphs>77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8" baseType="lpstr">
      <vt:lpstr>Arial</vt:lpstr>
      <vt:lpstr>Infineon 16:9</vt:lpstr>
      <vt:lpstr> Infineon PSOC6 Lecture project status </vt:lpstr>
      <vt:lpstr>Progress-Documentation</vt:lpstr>
      <vt:lpstr> Infineon PSOC6 Lecture project status </vt:lpstr>
      <vt:lpstr>Progress-Documentation</vt:lpstr>
      <vt:lpstr> Infineon PSOC6 Lecture project status </vt:lpstr>
      <vt:lpstr>Infineon PSOC6 Lecture presentation and final submission plans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IndustryMeetsMakers2024 Infineon team status</dc:title>
  <dc:creator>Muehlberger Andreas (IFAT IFM)</dc:creator>
  <cp:lastModifiedBy>Holzner, Tobias</cp:lastModifiedBy>
  <cp:revision>20</cp:revision>
  <dcterms:created xsi:type="dcterms:W3CDTF">2024-04-15T16:23:15Z</dcterms:created>
  <dcterms:modified xsi:type="dcterms:W3CDTF">2026-02-19T14:55:59Z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D">
    <vt:lpwstr/>
  </property>
  <property fmtid="{D5CDD505-2E9C-101B-9397-08002B2CF9AE}" pid="3" name="DocumentVersion">
    <vt:lpwstr/>
  </property>
  <property fmtid="{D5CDD505-2E9C-101B-9397-08002B2CF9AE}" pid="4" name="Proprietary">
    <vt:lpwstr/>
  </property>
  <property fmtid="{D5CDD505-2E9C-101B-9397-08002B2CF9AE}" pid="5" name="ConfidentialityMarking">
    <vt:lpwstr>restricted</vt:lpwstr>
  </property>
  <property fmtid="{D5CDD505-2E9C-101B-9397-08002B2CF9AE}" pid="6" name="AdditionalMarking">
    <vt:lpwstr/>
  </property>
  <property fmtid="{D5CDD505-2E9C-101B-9397-08002B2CF9AE}" pid="7" name="TemplateCompany">
    <vt:lpwstr>IFX</vt:lpwstr>
  </property>
  <property fmtid="{D5CDD505-2E9C-101B-9397-08002B2CF9AE}" pid="8" name="ContentTypeId">
    <vt:lpwstr>0x010100B7908744A1DC0E459D19409169BD101C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2025-07-03T06:27:54Z</vt:filetime>
  </property>
  <property fmtid="{D5CDD505-2E9C-101B-9397-08002B2CF9AE}" pid="15" name="empower.integration.Classification.DateFormat">
    <vt:lpwstr>yyyy-MM-dd</vt:lpwstr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true</vt:bool>
  </property>
  <property fmtid="{D5CDD505-2E9C-101B-9397-08002B2CF9AE}" pid="21" name="empower_migrated_document">
    <vt:lpwstr>true</vt:lpwstr>
  </property>
  <property fmtid="{D5CDD505-2E9C-101B-9397-08002B2CF9AE}" pid="22" name="MSIP_Label_a15a25aa-e944-415d-b7a7-40f6b9180b6b_Enabled">
    <vt:lpwstr>-1</vt:lpwstr>
  </property>
  <property fmtid="{D5CDD505-2E9C-101B-9397-08002B2CF9AE}" pid="23" name="MSIP_Label_a15a25aa-e944-415d-b7a7-40f6b9180b6b_SetDate">
    <vt:lpwstr>2025-07-03 06:27:55Z</vt:lpwstr>
  </property>
  <property fmtid="{D5CDD505-2E9C-101B-9397-08002B2CF9AE}" pid="24" name="MSIP_Label_a15a25aa-e944-415d-b7a7-40f6b9180b6b_Method">
    <vt:lpwstr>Privileged</vt:lpwstr>
  </property>
  <property fmtid="{D5CDD505-2E9C-101B-9397-08002B2CF9AE}" pid="25" name="MSIP_Label_a15a25aa-e944-415d-b7a7-40f6b9180b6b_Name">
    <vt:lpwstr>a15a25aa-e944-415d-b7a7-40f6b9180b6b</vt:lpwstr>
  </property>
  <property fmtid="{D5CDD505-2E9C-101B-9397-08002B2CF9AE}" pid="26" name="MSIP_Label_a15a25aa-e944-415d-b7a7-40f6b9180b6b_SiteId">
    <vt:lpwstr>eeb8d0e8-3544-41d3-aac6-934c309faf5a</vt:lpwstr>
  </property>
  <property fmtid="{D5CDD505-2E9C-101B-9397-08002B2CF9AE}" pid="27" name="MSIP_Label_a15a25aa-e944-415d-b7a7-40f6b9180b6b_ActionId">
    <vt:lpwstr>f2b23d3b-c785-4c2f-a598-3095f5fe5aeb</vt:lpwstr>
  </property>
  <property fmtid="{D5CDD505-2E9C-101B-9397-08002B2CF9AE}" pid="28" name="MSIP_Label_a15a25aa-e944-415d-b7a7-40f6b9180b6b_ContentBits">
    <vt:lpwstr>0</vt:lpwstr>
  </property>
</Properties>
</file>