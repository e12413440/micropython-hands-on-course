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61" r:id="rId8"/>
    <p:sldId id="263" r:id="rId9"/>
    <p:sldId id="264" r:id="rId10"/>
    <p:sldId id="270" r:id="rId11"/>
    <p:sldId id="271" r:id="rId12"/>
    <p:sldId id="262" r:id="rId13"/>
    <p:sldId id="267" r:id="rId14"/>
    <p:sldId id="265" r:id="rId15"/>
    <p:sldId id="266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734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15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Corneaux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3E06E0-A1F6-EE09-82B9-909CF77BD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Using the boards IMU to detect the type of punch that is thrown</a:t>
            </a:r>
          </a:p>
          <a:p>
            <a:pPr lvl="1"/>
            <a:r>
              <a:rPr lang="en-GB" dirty="0"/>
              <a:t>Jab</a:t>
            </a:r>
          </a:p>
          <a:p>
            <a:pPr lvl="1"/>
            <a:r>
              <a:rPr lang="en-GB" noProof="0" dirty="0"/>
              <a:t>Hook</a:t>
            </a:r>
          </a:p>
          <a:p>
            <a:pPr lvl="1"/>
            <a:r>
              <a:rPr lang="en-GB" dirty="0"/>
              <a:t>Uppercut</a:t>
            </a:r>
            <a:endParaRPr lang="en-GB" noProof="0" dirty="0"/>
          </a:p>
          <a:p>
            <a:r>
              <a:rPr lang="en-GB" noProof="0" dirty="0"/>
              <a:t>Helping boxers to analyse their performance in training</a:t>
            </a:r>
          </a:p>
          <a:p>
            <a:r>
              <a:rPr lang="en-GB" noProof="0" dirty="0"/>
              <a:t>Understanding what combinations are used often to prevent developing tendencies/predictability</a:t>
            </a:r>
          </a:p>
          <a:p>
            <a:r>
              <a:rPr lang="en-GB" dirty="0"/>
              <a:t>Expanding the boxer’s horizon by playing a game that demands different combinations</a:t>
            </a:r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5307B1-6A46-7F31-83D7-447B0208F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dirty="0"/>
              <a:t>Holder can be fixated using boxing gloves latch</a:t>
            </a:r>
          </a:p>
          <a:p>
            <a:r>
              <a:rPr lang="en-GB" dirty="0"/>
              <a:t>Custom fit cavity for battery</a:t>
            </a:r>
          </a:p>
          <a:p>
            <a:r>
              <a:rPr lang="en-GB" dirty="0"/>
              <a:t>PSoC 6 is screwed on top</a:t>
            </a:r>
          </a:p>
          <a:p>
            <a:r>
              <a:rPr lang="en-GB" dirty="0"/>
              <a:t>Worked perfectly during testing</a:t>
            </a:r>
          </a:p>
          <a:p>
            <a:endParaRPr lang="en-GB" dirty="0"/>
          </a:p>
          <a:p>
            <a:endParaRPr lang="en-GB" noProof="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/>
              <a:t>23.02.2026</a:t>
            </a:r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381000" y="681037"/>
            <a:ext cx="5675283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98913-DDB8-2AB6-B450-694B78EB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Sampled roughly 1h30min of data</a:t>
            </a:r>
          </a:p>
          <a:p>
            <a:pPr lvl="1"/>
            <a:r>
              <a:rPr lang="en-GB" noProof="0" dirty="0"/>
              <a:t>Of which 1h con</a:t>
            </a:r>
            <a:r>
              <a:rPr lang="en-GB" dirty="0"/>
              <a:t>sist of labelled data and the rest is unlabelled</a:t>
            </a:r>
          </a:p>
          <a:p>
            <a:pPr lvl="1"/>
            <a:r>
              <a:rPr lang="en-GB" dirty="0"/>
              <a:t>Only used right hand for punches</a:t>
            </a:r>
          </a:p>
          <a:p>
            <a:r>
              <a:rPr lang="en-GB" dirty="0"/>
              <a:t>Data of all three members was gathered using different types of speed and technique</a:t>
            </a:r>
          </a:p>
          <a:p>
            <a:r>
              <a:rPr lang="en-GB" dirty="0"/>
              <a:t>The IMU Frequency was set to 400Hz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A3B606C-7B43-593F-9DDF-7503F18C3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342" y="4518058"/>
            <a:ext cx="1643208" cy="1838292"/>
          </a:xfrm>
          <a:prstGeom prst="rect">
            <a:avLst/>
          </a:prstGeom>
        </p:spPr>
      </p:pic>
      <p:pic>
        <p:nvPicPr>
          <p:cNvPr id="10" name="Grafik 9" descr="Ein Bild, das Reihe, Screenshot, Diagramm, Kunst enthält.&#10;&#10;KI-generierte Inhalte können fehlerhaft sein.">
            <a:extLst>
              <a:ext uri="{FF2B5EF4-FFF2-40B4-BE49-F238E27FC236}">
                <a16:creationId xmlns:a16="http://schemas.microsoft.com/office/drawing/2014/main" id="{886BAB85-2640-7874-C35E-F3A93383E4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682" y="4518058"/>
            <a:ext cx="2414785" cy="1838292"/>
          </a:xfrm>
          <a:prstGeom prst="rect">
            <a:avLst/>
          </a:prstGeom>
        </p:spPr>
      </p:pic>
      <p:pic>
        <p:nvPicPr>
          <p:cNvPr id="12" name="Grafik 11" descr="Ein Bild, das Reihe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9133DA99-03BE-85E7-B6D6-8A7A57F03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599" y="4518056"/>
            <a:ext cx="2067213" cy="1838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8B87C8-6E80-5220-D562-38D83250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Only Data of one person was used to achieve greater accuracy</a:t>
            </a:r>
            <a:endParaRPr lang="en-GB" dirty="0"/>
          </a:p>
          <a:p>
            <a:r>
              <a:rPr lang="en-GB" dirty="0"/>
              <a:t>Train/Validation/Test split is roughly 60/20/20</a:t>
            </a:r>
          </a:p>
          <a:p>
            <a:r>
              <a:rPr lang="en-GB" dirty="0"/>
              <a:t>45 minutes of data, 18,5 of which are labelled</a:t>
            </a:r>
          </a:p>
          <a:p>
            <a:r>
              <a:rPr lang="en-GB" dirty="0"/>
              <a:t>Implemented negative Data (warming up, neither distinct punches nor no movement)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Text, Zahl, Schrift enthält.&#10;&#10;KI-generierte Inhalte können fehlerhaft sein.">
            <a:extLst>
              <a:ext uri="{FF2B5EF4-FFF2-40B4-BE49-F238E27FC236}">
                <a16:creationId xmlns:a16="http://schemas.microsoft.com/office/drawing/2014/main" id="{2C1A04C6-7FBD-7DB9-72D3-5B7FB8DD7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335" y="4254368"/>
            <a:ext cx="7272010" cy="210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Grafik 5" descr="Ein Bild, das Menschliches Gesicht, Person, Kleidung, Lächeln enthält.">
            <a:extLst>
              <a:ext uri="{FF2B5EF4-FFF2-40B4-BE49-F238E27FC236}">
                <a16:creationId xmlns:a16="http://schemas.microsoft.com/office/drawing/2014/main" id="{DF0707A0-3472-079F-F653-A4BD8251A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44" r="12363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>
                <a:solidFill>
                  <a:srgbClr val="FFFFFF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US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noProof="0">
              <a:solidFill>
                <a:srgbClr val="FFFFFF"/>
              </a:solidFill>
            </a:endParaRPr>
          </a:p>
        </p:txBody>
      </p:sp>
      <p:pic>
        <p:nvPicPr>
          <p:cNvPr id="9" name="Grafik 8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6192898-C8A5-E828-28E0-EDBF1B025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741" y="4557158"/>
            <a:ext cx="2300459" cy="1799192"/>
          </a:xfrm>
          <a:prstGeom prst="rect">
            <a:avLst/>
          </a:prstGeom>
        </p:spPr>
      </p:pic>
      <p:pic>
        <p:nvPicPr>
          <p:cNvPr id="12" name="Grafik 11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5D2FD7F0-484E-2EE4-913E-33017D3CE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740" y="3711973"/>
            <a:ext cx="1986120" cy="2053162"/>
          </a:xfrm>
          <a:prstGeom prst="rect">
            <a:avLst/>
          </a:prstGeom>
        </p:spPr>
      </p:pic>
      <p:pic>
        <p:nvPicPr>
          <p:cNvPr id="14" name="Grafik 1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5A6A1DE2-D9CC-759E-7A28-19FC53123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541" y="3643149"/>
            <a:ext cx="1867161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5540-A834-3F82-495B-09628574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65A4F-AE0F-8B98-CC0D-AE35ADD19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68FB4-5819-C412-835B-67F7206F8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Preprocessor used: Contextual Window (0.5s length,</a:t>
            </a:r>
            <a:br>
              <a:rPr lang="en-GB" noProof="0" dirty="0"/>
            </a:br>
            <a:r>
              <a:rPr lang="en-GB" noProof="0" dirty="0"/>
              <a:t>2Hz prediction frequency)</a:t>
            </a:r>
          </a:p>
          <a:p>
            <a:r>
              <a:rPr lang="en-GB" dirty="0"/>
              <a:t>Created a model with:</a:t>
            </a:r>
          </a:p>
          <a:p>
            <a:pPr lvl="1"/>
            <a:r>
              <a:rPr lang="en-GB" dirty="0"/>
              <a:t>Model Family Conv1d</a:t>
            </a:r>
          </a:p>
          <a:p>
            <a:pPr lvl="1"/>
            <a:r>
              <a:rPr lang="en-GB" dirty="0"/>
              <a:t>Medium Model Size</a:t>
            </a:r>
          </a:p>
          <a:p>
            <a:pPr lvl="1"/>
            <a:r>
              <a:rPr lang="en-GB" dirty="0"/>
              <a:t>Balanced Optimization</a:t>
            </a:r>
          </a:p>
          <a:p>
            <a:pPr lvl="1"/>
            <a:r>
              <a:rPr lang="en-GB" dirty="0"/>
              <a:t>Mid Learn Rate &amp; Regularization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noProof="0" dirty="0"/>
              <a:t>Tried out different combination, the mentioned one lead to the best Test Statistics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06309-0EB5-1ECA-A30C-249E7C02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B5A81C-DA26-8B95-E384-0FF59D7EC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6E85EC3-D9DF-9DB5-4479-BE4F95EDA8A0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9" name="Grafik 8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5FFD4FB8-5CC3-0A10-5E5A-C18E2D451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737" y="1922944"/>
            <a:ext cx="2086266" cy="924054"/>
          </a:xfrm>
          <a:prstGeom prst="rect">
            <a:avLst/>
          </a:prstGeom>
        </p:spPr>
      </p:pic>
      <p:pic>
        <p:nvPicPr>
          <p:cNvPr id="11" name="Grafik 1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F44AB0-BF71-137A-958D-E48BCE1AE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084" y="2846998"/>
            <a:ext cx="4696920" cy="229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53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68D7-2926-547B-759F-905B45C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0F9FB-47AF-52EB-CAFC-EE7CC7631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D83B08-D5ED-F1AE-4C68-8F439E7FE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Generated Code of used Model and converted it to usable MP-model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1A1BE-373A-5FDD-44F3-E3FFDC5F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7E69F2-9F56-AF44-B4AD-1335808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8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798DA5B3-5766-002C-E7E4-331B21440828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7612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Overlapping labels</a:t>
            </a:r>
            <a:r>
              <a:rPr lang="en-GB" dirty="0"/>
              <a:t>, DEEPCRAFT Studio sometimes set two labels above each other</a:t>
            </a:r>
            <a:endParaRPr lang="en-GB" noProof="0" dirty="0"/>
          </a:p>
          <a:p>
            <a:r>
              <a:rPr lang="en-GB" noProof="0" dirty="0"/>
              <a:t>No clear indications on what ma</a:t>
            </a:r>
            <a:r>
              <a:rPr lang="en-GB" dirty="0" err="1"/>
              <a:t>kes</a:t>
            </a:r>
            <a:r>
              <a:rPr lang="en-GB" dirty="0"/>
              <a:t> model better or worse</a:t>
            </a:r>
          </a:p>
          <a:p>
            <a:r>
              <a:rPr lang="en-GB" dirty="0"/>
              <a:t>It was not achievable to enqueue Data fast enough in our </a:t>
            </a:r>
            <a:r>
              <a:rPr lang="en-GB" dirty="0" err="1"/>
              <a:t>Micropython</a:t>
            </a:r>
            <a:r>
              <a:rPr lang="en-GB" dirty="0"/>
              <a:t> Code (fastest Loop runtime 3ms). Needed to </a:t>
            </a:r>
            <a:r>
              <a:rPr lang="en-GB" dirty="0" err="1"/>
              <a:t>downsample</a:t>
            </a:r>
            <a:r>
              <a:rPr lang="en-GB" dirty="0"/>
              <a:t> our Data to 100Hz</a:t>
            </a:r>
          </a:p>
          <a:p>
            <a:r>
              <a:rPr lang="en-GB" dirty="0"/>
              <a:t>Using an if-selection to time enqueue did not work/lead to the PSOC6 stalling after a few seconds (Busy waiting). Used </a:t>
            </a:r>
            <a:r>
              <a:rPr lang="en-GB" dirty="0" err="1"/>
              <a:t>time.wait_ms</a:t>
            </a:r>
            <a:r>
              <a:rPr lang="en-GB" dirty="0"/>
              <a:t>() instead</a:t>
            </a:r>
          </a:p>
          <a:p>
            <a:r>
              <a:rPr lang="en-GB" dirty="0"/>
              <a:t>Predictions for one punch are greater than 0.6 over two contextual windows.</a:t>
            </a:r>
          </a:p>
          <a:p>
            <a:endParaRPr lang="en-GB" dirty="0"/>
          </a:p>
          <a:p>
            <a:endParaRPr lang="en-GB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206E-F9F0-B1F3-3831-EFA56FAF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51015-7065-37DE-2A96-992FCAE30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2E0872-877F-0BA3-51D1-35C51BF24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49512"/>
          </a:xfrm>
        </p:spPr>
        <p:txBody>
          <a:bodyPr/>
          <a:lstStyle/>
          <a:p>
            <a:r>
              <a:rPr lang="en-GB" noProof="0" dirty="0"/>
              <a:t>Implementing the game function</a:t>
            </a:r>
          </a:p>
          <a:p>
            <a:r>
              <a:rPr lang="en-GB" dirty="0"/>
              <a:t>Gathering more sampling data from more different people </a:t>
            </a:r>
          </a:p>
          <a:p>
            <a:r>
              <a:rPr lang="en-GB" dirty="0"/>
              <a:t>Gather data of left-handed punches to make it suitable for real training purposes</a:t>
            </a:r>
          </a:p>
          <a:p>
            <a:r>
              <a:rPr lang="en-GB" noProof="0" dirty="0"/>
              <a:t>Creating a function to read the velocity of thrown punches/calculate it using the IMU-Data</a:t>
            </a:r>
          </a:p>
          <a:p>
            <a:r>
              <a:rPr lang="en-GB" noProof="0" dirty="0"/>
              <a:t>Using the boards button </a:t>
            </a:r>
            <a:r>
              <a:rPr lang="en-GB" dirty="0"/>
              <a:t>to start and stop sessions</a:t>
            </a:r>
          </a:p>
          <a:p>
            <a:r>
              <a:rPr lang="en-GB" noProof="0" dirty="0"/>
              <a:t>Creation of c</a:t>
            </a:r>
            <a:r>
              <a:rPr lang="en-GB" dirty="0"/>
              <a:t>harts for easier understanding/adding statistic analysis (number of certain punches, highest velocity, …)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5D3B9EB-9901-5950-F169-B1D0A08C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A053F44-783F-C8DC-CE39-9F9027F85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FDB87BB3-2B66-4842-355C-9286C653C6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dirty="0">
                <a:solidFill>
                  <a:srgbClr val="FFFFFF"/>
                </a:solidFill>
                <a:latin typeface="Arial"/>
                <a:cs typeface="Arial"/>
              </a:rPr>
              <a:t>About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the future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5462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E37B-A8A4-7DB3-BEB2-DDA5B763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AEA4DC-F199-EB31-C94A-11133538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DDAACB-99BB-6170-0A2C-8EBAB1148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69C4BA-EF15-6CA1-572B-0396522A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1049F99-5A55-8940-7F57-531D947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5492079-CC3B-A13A-1CB8-A2687315E1D2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Thank you for your attention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1527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Breitbild</PresentationFormat>
  <Paragraphs>81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Riedelberger, Tobias</cp:lastModifiedBy>
  <cp:revision>4</cp:revision>
  <dcterms:created xsi:type="dcterms:W3CDTF">2026-02-20T16:22:17Z</dcterms:created>
  <dcterms:modified xsi:type="dcterms:W3CDTF">2026-02-21T16:15:52Z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