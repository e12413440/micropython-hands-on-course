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61" r:id="rId8"/>
    <p:sldId id="263" r:id="rId9"/>
    <p:sldId id="269" r:id="rId10"/>
    <p:sldId id="268" r:id="rId11"/>
    <p:sldId id="264" r:id="rId12"/>
    <p:sldId id="270" r:id="rId13"/>
    <p:sldId id="271" r:id="rId14"/>
    <p:sldId id="262" r:id="rId15"/>
    <p:sldId id="267" r:id="rId16"/>
    <p:sldId id="265" r:id="rId17"/>
    <p:sldId id="266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27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DB5A7-DA16-4448-8282-3E19F6C995A7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21F40-A2A0-451B-91E9-F1FF0F435D3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4563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21F40-A2A0-451B-91E9-F1FF0F435D37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8734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6FB0C3-6DD8-9642-C56D-F6EA4573E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D210422-5155-7553-C1CB-09A24081A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933723-7DE4-C4B8-2B9D-F41047360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6D3681-D69E-A4AC-FB42-144D06F7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E30784-0A59-989A-00B3-0B70CAC42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85258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06A954-14A5-E19C-6384-89CEC1617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F7D271-A73C-FCEB-6FEF-1E8ECC265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62D35E-46C2-9113-58B0-B06187457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F2B9B4-234B-B10D-3763-C563E4963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8BAB4D-D2A8-B1CE-006E-78CC72C3E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42955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4436B9-361C-D195-30E7-8F56D90A5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7AFEA8-FC36-A192-474A-EDCFD0521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E4262B-ACB2-DE75-3DDD-CECE14CED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D1221D-E68B-0C2A-AC23-AA2577F70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656789-181D-E387-49ED-E7650A322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038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3D9CA2-EFF1-F214-0889-7E7C419AC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87B54F-F183-7719-091F-33B9FF4D65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0AC77E-1ED1-4F7A-EFFC-E47CC530D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F583F7-0240-39D4-6533-9968471B1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E2B955-268C-512B-5B60-BF5F0210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D23B212-CD36-2868-4063-15134DE5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883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9E0354-F5C9-2ACE-EE12-CC8639C2C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A80AE4-A422-8C12-3A13-359794A8C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9FC13FD-7816-2BE2-36D3-27B0D5A7E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F5B33BC-5E5B-4963-B223-D27EC20C90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C446D04-076B-FAFA-BEB2-49F78573F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44AE0F5-1708-2F7B-1A64-B1696743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9B8E035-4E54-E62E-FFDF-3A707BE8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2017B24-16B9-4149-F835-6BAE0D61D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06027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A5B7CC-0DB4-6074-2019-F622EE089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6B16961-22CB-497A-BE3C-2E643B2D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3921DA5-EE58-91B6-FBB9-90FC92306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1AC88E-388B-BF7A-DD89-7106765F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20710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8C2B07-9576-8CD2-EFD2-02A25E88A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F07DE2D-2D72-B232-EECA-4A4A3D9AF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2ABB7D-FF6E-12E5-4DBD-CADE3171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33931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5B3357-CE31-BC41-DEBC-FBBB6D288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BFEAF7-9D96-5623-CC3B-2F8BD805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8285AB-CFAF-1E18-2125-E666B1533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90BD84C-601D-CD1A-2EBD-38E725596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7C8ECE-2B1C-13CA-481A-56025D2A5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B40BC7B-B3AC-4171-DFC9-2E109FAAC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05078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FED519-97FE-8C6E-587E-FAF487551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BE3289B-44E8-9B04-424E-A56567C4D0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F9D71AA-A887-131A-8B4E-DC3C9D179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18AA77-1BCF-0ECD-C9CF-423EC3F8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FAE5BE2-D8F6-7A7D-36AF-6E7B72DF2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B3D68B-F6A5-234D-FE23-8603F8A72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68835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43B1B7-FCC0-4676-C524-89B54EC81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27571C9-CA41-01DA-9808-897F8238A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C818FD-A1C5-6206-733E-29B65F08A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542CC3-510E-1FC7-3376-E673B4C7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EC1EFB-91D8-5426-C92D-7D202FB1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37678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E9A176C-CA23-BDB2-56B3-CE4BA286D8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0B38A40-E624-2E41-9B84-D61A4EB88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9B254B-5E16-844C-B9EE-79551DC13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C7E826-AE79-B1CE-692E-4C41DF91B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F2CA65-EB20-C98E-58B8-5CD9E220C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86536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6E84641-377E-58B7-1B09-7C633ACC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7BF36E-28CD-516D-DF6C-9EC0D9282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AC9712-78FB-7810-2C3A-77942CB6D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AT"/>
              <a:t>23.02.2026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E750CC-A7E6-526B-2AD5-3C0BF5AD70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DDBDEC-1F3D-D0F3-73B4-CA8396A06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21661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43A32C-2C33-9912-A886-8DE6B79895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F91333-9662-D0D8-B37F-AFD7BE6E16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noProof="0" dirty="0"/>
          </a:p>
        </p:txBody>
      </p:sp>
      <p:pic>
        <p:nvPicPr>
          <p:cNvPr id="5" name="Grafik 4" descr="Ein Bild, das Menschliches Gesicht, Person, Kleidung, Lächeln enthält.&#10;&#10;KI-generierte Inhalte können fehlerhaft sein.">
            <a:extLst>
              <a:ext uri="{FF2B5EF4-FFF2-40B4-BE49-F238E27FC236}">
                <a16:creationId xmlns:a16="http://schemas.microsoft.com/office/drawing/2014/main" id="{57263115-D23F-307C-58E3-96DA74536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4967" y="0"/>
            <a:ext cx="16225222" cy="708904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B3B5A66-A3F5-A616-0CAC-03FBC51F052E}"/>
              </a:ext>
            </a:extLst>
          </p:cNvPr>
          <p:cNvSpPr txBox="1"/>
          <p:nvPr/>
        </p:nvSpPr>
        <p:spPr>
          <a:xfrm>
            <a:off x="3549757" y="2921168"/>
            <a:ext cx="57041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noProof="0" dirty="0">
                <a:solidFill>
                  <a:schemeClr val="bg1"/>
                </a:solidFill>
              </a:rPr>
              <a:t>Punch Analyzer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2799DBA-C653-94CB-3268-56DAE6CA453A}"/>
              </a:ext>
            </a:extLst>
          </p:cNvPr>
          <p:cNvSpPr txBox="1"/>
          <p:nvPr/>
        </p:nvSpPr>
        <p:spPr>
          <a:xfrm>
            <a:off x="5538411" y="3801115"/>
            <a:ext cx="1115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Team T²C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B9ACC07-A69E-3EA9-E5B6-85AC6AB44F98}"/>
              </a:ext>
            </a:extLst>
          </p:cNvPr>
          <p:cNvSpPr txBox="1"/>
          <p:nvPr/>
        </p:nvSpPr>
        <p:spPr>
          <a:xfrm>
            <a:off x="8019775" y="6535926"/>
            <a:ext cx="5296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Tobias Riedelberger, Theo </a:t>
            </a:r>
            <a:r>
              <a:rPr lang="en-GB" noProof="0" dirty="0" err="1">
                <a:solidFill>
                  <a:schemeClr val="bg1"/>
                </a:solidFill>
              </a:rPr>
              <a:t>Corneaux</a:t>
            </a:r>
            <a:r>
              <a:rPr lang="en-GB" noProof="0" dirty="0">
                <a:solidFill>
                  <a:schemeClr val="bg1"/>
                </a:solidFill>
              </a:rPr>
              <a:t>, Tobias Holzner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4560CCD-2BF3-26CF-23B8-86F248BE9863}"/>
              </a:ext>
            </a:extLst>
          </p:cNvPr>
          <p:cNvSpPr txBox="1"/>
          <p:nvPr/>
        </p:nvSpPr>
        <p:spPr>
          <a:xfrm>
            <a:off x="-1200150" y="6105812"/>
            <a:ext cx="1007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TU Wien</a:t>
            </a:r>
          </a:p>
          <a:p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C06B1E47-A603-2AAB-37A4-2CD1F10DC9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00150" y="6387018"/>
            <a:ext cx="2743200" cy="365125"/>
          </a:xfrm>
        </p:spPr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2D02A616-A550-F49B-8E7F-303D97911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1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49634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3E06E0-A1F6-EE09-82B9-909CF77BD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274D96-7991-528F-2279-05A08D08C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Using the boards IMU to detect the type of punch that is thrown</a:t>
            </a:r>
          </a:p>
          <a:p>
            <a:pPr lvl="1"/>
            <a:r>
              <a:rPr lang="en-GB" dirty="0"/>
              <a:t>Jab</a:t>
            </a:r>
          </a:p>
          <a:p>
            <a:pPr lvl="1"/>
            <a:r>
              <a:rPr lang="en-GB" noProof="0" dirty="0"/>
              <a:t>Hook</a:t>
            </a:r>
          </a:p>
          <a:p>
            <a:pPr lvl="1"/>
            <a:r>
              <a:rPr lang="en-GB" dirty="0"/>
              <a:t>Uppercut</a:t>
            </a:r>
            <a:endParaRPr lang="en-GB" noProof="0" dirty="0"/>
          </a:p>
          <a:p>
            <a:r>
              <a:rPr lang="en-GB" noProof="0" dirty="0"/>
              <a:t>Helping boxers to analyse their performance in training</a:t>
            </a:r>
          </a:p>
          <a:p>
            <a:r>
              <a:rPr lang="en-GB" noProof="0" dirty="0"/>
              <a:t>Understanding what combinations are used often to prevent developing tendencies/predictability</a:t>
            </a:r>
          </a:p>
          <a:p>
            <a:r>
              <a:rPr lang="en-GB" dirty="0"/>
              <a:t>Expanding the boxer’s horizon by playing a game that demands different combinations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598EE1-0F72-788A-3B1C-080227FC1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26809E5-34FC-C398-EA20-BF24B8AC2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2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00401F6C-5466-9256-223D-675546D7E749}"/>
              </a:ext>
            </a:extLst>
          </p:cNvPr>
          <p:cNvSpPr/>
          <p:nvPr/>
        </p:nvSpPr>
        <p:spPr bwMode="auto">
          <a:xfrm>
            <a:off x="388302" y="681037"/>
            <a:ext cx="11522076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7600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Project Idea</a:t>
            </a:r>
            <a:endParaRPr kumimoji="0" lang="en-GB" sz="2000" b="1" i="1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7226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AE26D-071A-97A0-ABF3-B53AF826E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BEEDAF-F5CA-75AE-DC96-1824E48F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/>
          </a:bodyPr>
          <a:lstStyle/>
          <a:p>
            <a:pPr marL="0" marR="0" lvl="0" indent="0" defTabSz="5760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="1" kern="0" noProof="0" dirty="0">
                <a:latin typeface="Arial"/>
                <a:cs typeface="Arial"/>
              </a:rPr>
              <a:t>Design of Holder</a:t>
            </a:r>
            <a:endParaRPr kumimoji="0" lang="en-GB" b="1" i="1" u="none" strike="noStrike" kern="0" cap="none" spc="0" normalizeH="0" baseline="30000" noProof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5307B1-6A46-7F31-83D7-447B0208F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92194" cy="4351338"/>
          </a:xfrm>
        </p:spPr>
        <p:txBody>
          <a:bodyPr>
            <a:normAutofit/>
          </a:bodyPr>
          <a:lstStyle/>
          <a:p>
            <a:r>
              <a:rPr lang="en-GB" dirty="0"/>
              <a:t>Holder can be fixated using boxing gloves latch</a:t>
            </a:r>
          </a:p>
          <a:p>
            <a:r>
              <a:rPr lang="en-GB" dirty="0"/>
              <a:t>Custom fit cavity for battery</a:t>
            </a:r>
          </a:p>
          <a:p>
            <a:r>
              <a:rPr lang="en-GB" dirty="0"/>
              <a:t>PSoC 6 is screwed on top</a:t>
            </a:r>
          </a:p>
          <a:p>
            <a:r>
              <a:rPr lang="en-GB" dirty="0"/>
              <a:t>Worked perfectly during testing</a:t>
            </a:r>
          </a:p>
          <a:p>
            <a:endParaRPr lang="en-GB" dirty="0"/>
          </a:p>
          <a:p>
            <a:endParaRPr lang="en-GB" noProof="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517BAD-9514-D98B-32BF-CA3390A0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/>
              <a:t>23.02.2026</a:t>
            </a:r>
          </a:p>
        </p:txBody>
      </p:sp>
      <p:pic>
        <p:nvPicPr>
          <p:cNvPr id="6" name="Grafik 5" descr="Ein Bild, das Elektronik, Elektrisches Bauelement, Computerkomponenten, Elektronisches Bauteil enthält.&#10;&#10;KI-generierte Inhalte können fehlerhaft sein.">
            <a:extLst>
              <a:ext uri="{FF2B5EF4-FFF2-40B4-BE49-F238E27FC236}">
                <a16:creationId xmlns:a16="http://schemas.microsoft.com/office/drawing/2014/main" id="{DF7CC945-1BD5-BB99-5C8E-E3EC98BD8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72" b="24082"/>
          <a:stretch>
            <a:fillRect/>
          </a:stretch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34" name="Arc 33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fik 6" descr="Ein Bild, das computer, Computer, Schuhwerk, Elektronik enthält.&#10;&#10;KI-generierte Inhalte können fehlerhaft sein.">
            <a:extLst>
              <a:ext uri="{FF2B5EF4-FFF2-40B4-BE49-F238E27FC236}">
                <a16:creationId xmlns:a16="http://schemas.microsoft.com/office/drawing/2014/main" id="{6154FDAC-E8E2-EB53-BB07-09E88AB2D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15" b="14083"/>
          <a:stretch>
            <a:fillRect/>
          </a:stretch>
        </p:blipFill>
        <p:spPr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3EDE339-3DA4-6501-A312-D169212BC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33690DF-FFD6-462A-8578-786984FF8DCB}" type="slidenum">
              <a:rPr lang="en-GB" noProof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GB" noProof="0">
              <a:solidFill>
                <a:srgbClr val="FFFFFF"/>
              </a:solidFill>
            </a:endParaRPr>
          </a:p>
        </p:txBody>
      </p:sp>
      <p:sp>
        <p:nvSpPr>
          <p:cNvPr id="9" name="Rectangle: Rounded Corners 3">
            <a:extLst>
              <a:ext uri="{FF2B5EF4-FFF2-40B4-BE49-F238E27FC236}">
                <a16:creationId xmlns:a16="http://schemas.microsoft.com/office/drawing/2014/main" id="{42AD6B56-8E8F-9843-3B5C-C3AC2161333C}"/>
              </a:ext>
            </a:extLst>
          </p:cNvPr>
          <p:cNvSpPr/>
          <p:nvPr/>
        </p:nvSpPr>
        <p:spPr bwMode="auto">
          <a:xfrm>
            <a:off x="381000" y="681037"/>
            <a:ext cx="5675283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000" b="1" kern="0" noProof="0" dirty="0">
                <a:solidFill>
                  <a:schemeClr val="bg1"/>
                </a:solidFill>
                <a:latin typeface="Arial"/>
                <a:cs typeface="Arial"/>
              </a:rPr>
              <a:t>Design of Holder</a:t>
            </a:r>
            <a:endParaRPr kumimoji="0" lang="en-GB" sz="2000" b="1" i="1" u="none" strike="noStrike" kern="0" cap="none" spc="0" normalizeH="0" baseline="30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5155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D91C4-B723-2146-5FE8-F366C6C3E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D98913-DDB8-2AB6-B450-694B78EB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4FD895-FD89-A586-2338-A7853C788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Sampled roughly 1h30min of data</a:t>
            </a:r>
          </a:p>
          <a:p>
            <a:pPr lvl="1"/>
            <a:r>
              <a:rPr lang="en-GB" noProof="0" dirty="0"/>
              <a:t>Of which 1h con</a:t>
            </a:r>
            <a:r>
              <a:rPr lang="en-GB" dirty="0"/>
              <a:t>sist of labelled data and the rest is unlabelled</a:t>
            </a:r>
          </a:p>
          <a:p>
            <a:pPr lvl="1"/>
            <a:r>
              <a:rPr lang="en-GB" dirty="0"/>
              <a:t>Only used right hand for punches</a:t>
            </a:r>
          </a:p>
          <a:p>
            <a:r>
              <a:rPr lang="en-GB" dirty="0"/>
              <a:t>Data of all three members was gathered using different types of speed and technique</a:t>
            </a:r>
          </a:p>
          <a:p>
            <a:r>
              <a:rPr lang="en-GB" dirty="0"/>
              <a:t>The IMU Frequency was set to 400Hz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700E60-7783-369E-107A-4CDBC0F76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4C729C-DF51-8245-8258-FBBD2276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4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8F9F501E-A15E-6C5C-14AF-4D12E69B9884}"/>
              </a:ext>
            </a:extLst>
          </p:cNvPr>
          <p:cNvSpPr/>
          <p:nvPr/>
        </p:nvSpPr>
        <p:spPr bwMode="auto">
          <a:xfrm>
            <a:off x="388302" y="681037"/>
            <a:ext cx="11522076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000" b="1" kern="0" noProof="0" dirty="0">
                <a:solidFill>
                  <a:srgbClr val="FFFFFF"/>
                </a:solidFill>
                <a:latin typeface="Arial"/>
                <a:cs typeface="Arial"/>
              </a:rPr>
              <a:t>Data sampling</a:t>
            </a:r>
            <a:endParaRPr lang="en-GB" sz="2000" b="1" i="1" kern="0" baseline="30000" noProof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7" name="Grafik 6" descr="Ein Bild, das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2A3B606C-7B43-593F-9DDF-7503F18C3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342" y="4518058"/>
            <a:ext cx="1643208" cy="1838292"/>
          </a:xfrm>
          <a:prstGeom prst="rect">
            <a:avLst/>
          </a:prstGeom>
        </p:spPr>
      </p:pic>
      <p:pic>
        <p:nvPicPr>
          <p:cNvPr id="10" name="Grafik 9" descr="Ein Bild, das Reihe, Screenshot, Diagramm, Kunst enthält.&#10;&#10;KI-generierte Inhalte können fehlerhaft sein.">
            <a:extLst>
              <a:ext uri="{FF2B5EF4-FFF2-40B4-BE49-F238E27FC236}">
                <a16:creationId xmlns:a16="http://schemas.microsoft.com/office/drawing/2014/main" id="{886BAB85-2640-7874-C35E-F3A93383E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682" y="4518058"/>
            <a:ext cx="2414785" cy="1838292"/>
          </a:xfrm>
          <a:prstGeom prst="rect">
            <a:avLst/>
          </a:prstGeom>
        </p:spPr>
      </p:pic>
      <p:pic>
        <p:nvPicPr>
          <p:cNvPr id="12" name="Grafik 11" descr="Ein Bild, das Reihe, Screenshot, Diagramm, Design enthält.&#10;&#10;KI-generierte Inhalte können fehlerhaft sein.">
            <a:extLst>
              <a:ext uri="{FF2B5EF4-FFF2-40B4-BE49-F238E27FC236}">
                <a16:creationId xmlns:a16="http://schemas.microsoft.com/office/drawing/2014/main" id="{9133DA99-03BE-85E7-B6D6-8A7A57F03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599" y="4518056"/>
            <a:ext cx="2067213" cy="183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88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35D07-3D07-D2CD-8291-4D2E98127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8B87C8-6E80-5220-D562-38D83250C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8E7022-AB6D-AF45-74D3-BEDED1886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Only Data of one person was used to achieve greater accuracy</a:t>
            </a:r>
            <a:endParaRPr lang="en-GB" dirty="0"/>
          </a:p>
          <a:p>
            <a:r>
              <a:rPr lang="en-GB" dirty="0"/>
              <a:t>Train/Validation/Test split is roughly 60/20/20</a:t>
            </a:r>
          </a:p>
          <a:p>
            <a:r>
              <a:rPr lang="en-GB" dirty="0"/>
              <a:t>45 minutes of data, 18,5 of which are labelled</a:t>
            </a:r>
          </a:p>
          <a:p>
            <a:r>
              <a:rPr lang="en-GB" dirty="0"/>
              <a:t>Implemented negative Data (warming up, neither distinct punches nor no movement)</a:t>
            </a:r>
          </a:p>
          <a:p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595A7A-3457-F906-FA10-2562E7703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2EDB80D-2F82-6F74-B389-82158435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5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4CC228C7-6794-B2D7-4AF1-77CA85056CEA}"/>
              </a:ext>
            </a:extLst>
          </p:cNvPr>
          <p:cNvSpPr/>
          <p:nvPr/>
        </p:nvSpPr>
        <p:spPr bwMode="auto">
          <a:xfrm>
            <a:off x="388302" y="681037"/>
            <a:ext cx="11522076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000" b="1" kern="0" noProof="0" dirty="0">
                <a:solidFill>
                  <a:srgbClr val="FFFFFF"/>
                </a:solidFill>
                <a:latin typeface="Arial"/>
                <a:cs typeface="Arial"/>
              </a:rPr>
              <a:t>Final Classification</a:t>
            </a:r>
            <a:endParaRPr lang="en-GB" sz="2000" b="1" i="1" kern="0" baseline="30000" noProof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7" name="Grafik 6" descr="Ein Bild, das Screenshot, Text, Zahl, Schrift enthält.&#10;&#10;KI-generierte Inhalte können fehlerhaft sein.">
            <a:extLst>
              <a:ext uri="{FF2B5EF4-FFF2-40B4-BE49-F238E27FC236}">
                <a16:creationId xmlns:a16="http://schemas.microsoft.com/office/drawing/2014/main" id="{2C1A04C6-7FBD-7DB9-72D3-5B7FB8DD7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335" y="4254368"/>
            <a:ext cx="7272010" cy="210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033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4AA44-61AD-F664-DB0E-92EA8157D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CFFF75-DD03-697D-B265-C835B0118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15BA3A-6FC4-9E95-9E85-C621A22B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4E4EFE-C314-C370-F090-1B891EF01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6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02461553-91C8-D815-FE9B-DE812F985953}"/>
              </a:ext>
            </a:extLst>
          </p:cNvPr>
          <p:cNvSpPr/>
          <p:nvPr/>
        </p:nvSpPr>
        <p:spPr bwMode="auto">
          <a:xfrm>
            <a:off x="388302" y="681037"/>
            <a:ext cx="11522076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000" b="1" kern="0" noProof="0" dirty="0">
                <a:solidFill>
                  <a:srgbClr val="FFFFFF"/>
                </a:solidFill>
                <a:latin typeface="Arial"/>
                <a:cs typeface="Arial"/>
              </a:rPr>
              <a:t>Final Classification</a:t>
            </a:r>
            <a:endParaRPr lang="en-GB" sz="2000" b="1" i="1" kern="0" baseline="30000" noProof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0482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EE75E-5108-46B8-62A9-756FA8000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E88A22-0200-BECC-3D5A-C1D591067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F60114-55DF-203C-72A4-F9F8BDFB6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Only Data of one person was used to achieve greater accuracy</a:t>
            </a:r>
            <a:endParaRPr lang="en-GB" dirty="0"/>
          </a:p>
          <a:p>
            <a:r>
              <a:rPr lang="en-GB" dirty="0"/>
              <a:t>Train/Validation/Test split is roughly 60/20/20</a:t>
            </a:r>
          </a:p>
          <a:p>
            <a:r>
              <a:rPr lang="en-GB" dirty="0"/>
              <a:t>45 minutes of data, 18,5 of which are labelled</a:t>
            </a:r>
          </a:p>
          <a:p>
            <a:r>
              <a:rPr lang="en-GB" dirty="0"/>
              <a:t>Implemented negative Data (warming up, neither distinct punches nor no movement)</a:t>
            </a:r>
          </a:p>
          <a:p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3A848D-BACC-28FB-C47D-31CAE0EF6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196C664-9F44-6398-877F-88648A2B4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7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6D7C1CA4-8C72-9FE4-9F2B-F4C5C4AAE056}"/>
              </a:ext>
            </a:extLst>
          </p:cNvPr>
          <p:cNvSpPr/>
          <p:nvPr/>
        </p:nvSpPr>
        <p:spPr bwMode="auto">
          <a:xfrm>
            <a:off x="388302" y="681037"/>
            <a:ext cx="11522076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000" b="1" kern="0" noProof="0" dirty="0">
                <a:solidFill>
                  <a:srgbClr val="FFFFFF"/>
                </a:solidFill>
                <a:latin typeface="Arial"/>
                <a:cs typeface="Arial"/>
              </a:rPr>
              <a:t>Final Classification</a:t>
            </a:r>
            <a:endParaRPr lang="en-GB" sz="2000" b="1" i="1" kern="0" baseline="30000" noProof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7" name="Grafik 6" descr="Ein Bild, das Screenshot, Text, Zahl, Schrift enthält.&#10;&#10;KI-generierte Inhalte können fehlerhaft sein.">
            <a:extLst>
              <a:ext uri="{FF2B5EF4-FFF2-40B4-BE49-F238E27FC236}">
                <a16:creationId xmlns:a16="http://schemas.microsoft.com/office/drawing/2014/main" id="{CE170180-FF02-18F9-A44F-793522F12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335" y="4254368"/>
            <a:ext cx="7272010" cy="210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199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8B122-816F-3391-9043-A0373DF5F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Grafik 5" descr="Ein Bild, das Menschliches Gesicht, Person, Kleidung, Lächeln enthält.">
            <a:extLst>
              <a:ext uri="{FF2B5EF4-FFF2-40B4-BE49-F238E27FC236}">
                <a16:creationId xmlns:a16="http://schemas.microsoft.com/office/drawing/2014/main" id="{DF0707A0-3472-079F-F653-A4BD8251A0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4" r="12363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362DEC-D7B6-CF9F-2598-6E560D6987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>
                <a:solidFill>
                  <a:srgbClr val="FFFFFF"/>
                </a:solidFill>
              </a:rPr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A09A85-E254-DAE1-1B28-17A6C1C20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33690DF-FFD6-462A-8578-786984FF8DCB}" type="slidenum">
              <a:rPr lang="en-US" noProof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noProof="0">
              <a:solidFill>
                <a:srgbClr val="FFFFFF"/>
              </a:solidFill>
            </a:endParaRPr>
          </a:p>
        </p:txBody>
      </p:sp>
      <p:pic>
        <p:nvPicPr>
          <p:cNvPr id="9" name="Grafik 8" descr="Ein Bild, das Screenshot,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A6192898-C8A5-E828-28E0-EDBF1B025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741" y="4557158"/>
            <a:ext cx="2300459" cy="1799192"/>
          </a:xfrm>
          <a:prstGeom prst="rect">
            <a:avLst/>
          </a:prstGeom>
        </p:spPr>
      </p:pic>
      <p:pic>
        <p:nvPicPr>
          <p:cNvPr id="12" name="Grafik 11" descr="Ein Bild, das Screenshot, Reihe, Design enthält.&#10;&#10;KI-generierte Inhalte können fehlerhaft sein.">
            <a:extLst>
              <a:ext uri="{FF2B5EF4-FFF2-40B4-BE49-F238E27FC236}">
                <a16:creationId xmlns:a16="http://schemas.microsoft.com/office/drawing/2014/main" id="{5D2FD7F0-484E-2EE4-913E-33017D3CE0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740" y="3711973"/>
            <a:ext cx="1986120" cy="2053162"/>
          </a:xfrm>
          <a:prstGeom prst="rect">
            <a:avLst/>
          </a:prstGeom>
        </p:spPr>
      </p:pic>
      <p:pic>
        <p:nvPicPr>
          <p:cNvPr id="14" name="Grafik 13" descr="Ein Bild, das Screenshot, Reihe, Diagramm, Design enthält.&#10;&#10;KI-generierte Inhalte können fehlerhaft sein.">
            <a:extLst>
              <a:ext uri="{FF2B5EF4-FFF2-40B4-BE49-F238E27FC236}">
                <a16:creationId xmlns:a16="http://schemas.microsoft.com/office/drawing/2014/main" id="{5A6A1DE2-D9CC-759E-7A28-19FC531233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541" y="3643149"/>
            <a:ext cx="1867161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55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F5540-A834-3F82-495B-096285740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465A4F-AE0F-8B98-CC0D-AE35ADD19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F68FB4-5819-C412-835B-67F7206F8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Preprocessor used: Contextual Window (0.5s length,</a:t>
            </a:r>
            <a:br>
              <a:rPr lang="en-GB" noProof="0" dirty="0"/>
            </a:br>
            <a:r>
              <a:rPr lang="en-GB" noProof="0" dirty="0"/>
              <a:t>2Hz prediction frequency)</a:t>
            </a:r>
          </a:p>
          <a:p>
            <a:r>
              <a:rPr lang="en-GB" dirty="0"/>
              <a:t>Created a model with:</a:t>
            </a:r>
          </a:p>
          <a:p>
            <a:pPr lvl="1"/>
            <a:r>
              <a:rPr lang="en-GB" dirty="0"/>
              <a:t>Model Family Conv1d</a:t>
            </a:r>
          </a:p>
          <a:p>
            <a:pPr lvl="1"/>
            <a:r>
              <a:rPr lang="en-GB" dirty="0"/>
              <a:t>Medium Model Size</a:t>
            </a:r>
          </a:p>
          <a:p>
            <a:pPr lvl="1"/>
            <a:r>
              <a:rPr lang="en-GB" dirty="0"/>
              <a:t>Balanced Optimization</a:t>
            </a:r>
          </a:p>
          <a:p>
            <a:pPr lvl="1"/>
            <a:r>
              <a:rPr lang="en-GB" dirty="0"/>
              <a:t>Mid Learn Rate &amp; Regularization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noProof="0" dirty="0"/>
              <a:t>Tried out different combination, the mentioned one lead to the best Test Statistics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206309-0EB5-1ECA-A30C-249E7C02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EB5A81C-DA26-8B95-E384-0FF59D7EC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9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96E85EC3-D9DF-9DB5-4479-BE4F95EDA8A0}"/>
              </a:ext>
            </a:extLst>
          </p:cNvPr>
          <p:cNvSpPr/>
          <p:nvPr/>
        </p:nvSpPr>
        <p:spPr bwMode="auto">
          <a:xfrm>
            <a:off x="388302" y="681037"/>
            <a:ext cx="11522076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000" b="1" kern="0" noProof="0" dirty="0">
                <a:solidFill>
                  <a:srgbClr val="FFFFFF"/>
                </a:solidFill>
                <a:latin typeface="Arial"/>
                <a:cs typeface="Arial"/>
              </a:rPr>
              <a:t>Final Classification</a:t>
            </a:r>
            <a:endParaRPr lang="en-GB" sz="2000" b="1" i="1" kern="0" baseline="30000" noProof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9" name="Grafik 8" descr="Ein Bild, das Schrift, Text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5FFD4FB8-5CC3-0A10-5E5A-C18E2D451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9737" y="1922944"/>
            <a:ext cx="2086266" cy="924054"/>
          </a:xfrm>
          <a:prstGeom prst="rect">
            <a:avLst/>
          </a:prstGeom>
        </p:spPr>
      </p:pic>
      <p:pic>
        <p:nvPicPr>
          <p:cNvPr id="11" name="Grafik 10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F3F44AB0-BF71-137A-958D-E48BCE1AE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084" y="2846998"/>
            <a:ext cx="4696920" cy="229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53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E68D7-2926-547B-759F-905B45C7A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80F9FB-47AF-52EB-CAFC-EE7CC7631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D83B08-D5ED-F1AE-4C68-8F439E7FE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Generated Code of used Model and converted it to usable MP-model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81A1BE-373A-5FDD-44F3-E3FFDC5FE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7E69F2-9F56-AF44-B4AD-1335808D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10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798DA5B3-5766-002C-E7E4-331B21440828}"/>
              </a:ext>
            </a:extLst>
          </p:cNvPr>
          <p:cNvSpPr/>
          <p:nvPr/>
        </p:nvSpPr>
        <p:spPr bwMode="auto">
          <a:xfrm>
            <a:off x="388302" y="681037"/>
            <a:ext cx="11522076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000" b="1" kern="0" noProof="0" dirty="0" err="1">
                <a:solidFill>
                  <a:srgbClr val="FFFFFF"/>
                </a:solidFill>
                <a:latin typeface="Arial"/>
                <a:cs typeface="Arial"/>
              </a:rPr>
              <a:t>Micropython</a:t>
            </a:r>
            <a:r>
              <a:rPr lang="en-GB" sz="2000" b="1" kern="0" noProof="0" dirty="0">
                <a:solidFill>
                  <a:srgbClr val="FFFFFF"/>
                </a:solidFill>
                <a:latin typeface="Arial"/>
                <a:cs typeface="Arial"/>
              </a:rPr>
              <a:t> Code</a:t>
            </a:r>
            <a:endParaRPr lang="en-GB" sz="2000" b="1" i="1" kern="0" baseline="30000" noProof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7612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8F5AF-2E23-BEFE-6BC1-B4D534AFB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F140C5-9AA7-C982-774A-2DE2FE881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E70A6D-D365-C64A-387A-75AAE10CB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noProof="0" dirty="0"/>
              <a:t>Overlapping labels</a:t>
            </a:r>
            <a:r>
              <a:rPr lang="en-GB" dirty="0"/>
              <a:t>, DEEPCRAFT Studio sometimes set two labels above each other</a:t>
            </a:r>
            <a:endParaRPr lang="en-GB" noProof="0" dirty="0"/>
          </a:p>
          <a:p>
            <a:r>
              <a:rPr lang="en-GB" noProof="0" dirty="0"/>
              <a:t>No clear indications on what ma</a:t>
            </a:r>
            <a:r>
              <a:rPr lang="en-GB" dirty="0" err="1"/>
              <a:t>kes</a:t>
            </a:r>
            <a:r>
              <a:rPr lang="en-GB" dirty="0"/>
              <a:t> model better or worse</a:t>
            </a:r>
          </a:p>
          <a:p>
            <a:r>
              <a:rPr lang="en-GB" dirty="0"/>
              <a:t>It was not achievable to enqueue Data fast enough in our </a:t>
            </a:r>
            <a:r>
              <a:rPr lang="en-GB" dirty="0" err="1"/>
              <a:t>Micropython</a:t>
            </a:r>
            <a:r>
              <a:rPr lang="en-GB" dirty="0"/>
              <a:t> Code (fastest Loop runtime 3ms). Needed to </a:t>
            </a:r>
            <a:r>
              <a:rPr lang="en-GB" dirty="0" err="1"/>
              <a:t>downsample</a:t>
            </a:r>
            <a:r>
              <a:rPr lang="en-GB" dirty="0"/>
              <a:t> our Data to 100Hz</a:t>
            </a:r>
          </a:p>
          <a:p>
            <a:r>
              <a:rPr lang="en-GB" dirty="0"/>
              <a:t>Using an if-selection to time enqueue did not work/lead to the PSOC6 stalling after a few seconds (Busy waiting). Used </a:t>
            </a:r>
            <a:r>
              <a:rPr lang="en-GB" dirty="0" err="1"/>
              <a:t>time.wait_ms</a:t>
            </a:r>
            <a:r>
              <a:rPr lang="en-GB" dirty="0"/>
              <a:t>() instead</a:t>
            </a:r>
          </a:p>
          <a:p>
            <a:r>
              <a:rPr lang="en-GB" dirty="0"/>
              <a:t>Predictions for one punch are greater than 0.6 over two contextual windows.</a:t>
            </a:r>
          </a:p>
          <a:p>
            <a:endParaRPr lang="en-GB" dirty="0"/>
          </a:p>
          <a:p>
            <a:endParaRPr lang="en-GB" dirty="0"/>
          </a:p>
          <a:p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62B3FA-00C1-9EE6-1D74-E4B044BB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58572C-AB05-ECD6-B505-C87F61376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11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2B3438B7-EF5B-59AA-36AC-D1B6B1D0A3AA}"/>
              </a:ext>
            </a:extLst>
          </p:cNvPr>
          <p:cNvSpPr/>
          <p:nvPr/>
        </p:nvSpPr>
        <p:spPr bwMode="auto">
          <a:xfrm>
            <a:off x="388302" y="681037"/>
            <a:ext cx="11522076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000" b="1" kern="0" noProof="0" dirty="0">
                <a:solidFill>
                  <a:srgbClr val="FFFFFF"/>
                </a:solidFill>
                <a:latin typeface="Arial"/>
                <a:cs typeface="Arial"/>
              </a:rPr>
              <a:t>Problems faced</a:t>
            </a:r>
            <a:endParaRPr lang="en-GB" sz="2000" b="1" i="1" kern="0" baseline="30000" noProof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6278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E206E-F9F0-B1F3-3831-EFA56FAF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651015-7065-37DE-2A96-992FCAE30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2E0872-877F-0BA3-51D1-35C51BF24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49512"/>
          </a:xfrm>
        </p:spPr>
        <p:txBody>
          <a:bodyPr/>
          <a:lstStyle/>
          <a:p>
            <a:r>
              <a:rPr lang="en-GB" noProof="0" dirty="0"/>
              <a:t>Implementing the game function</a:t>
            </a:r>
          </a:p>
          <a:p>
            <a:r>
              <a:rPr lang="en-GB" dirty="0"/>
              <a:t>Gathering more sampling data from more different people </a:t>
            </a:r>
          </a:p>
          <a:p>
            <a:r>
              <a:rPr lang="en-GB" dirty="0"/>
              <a:t>Gather data of left hand punches to make it suitable for real training purposes</a:t>
            </a:r>
          </a:p>
          <a:p>
            <a:r>
              <a:rPr lang="en-GB" noProof="0" dirty="0"/>
              <a:t>Creating a function to read the velocity of thrown punches/calculate it using the IMU-Data</a:t>
            </a:r>
          </a:p>
          <a:p>
            <a:r>
              <a:rPr lang="en-GB" noProof="0" dirty="0"/>
              <a:t>Using the boards button </a:t>
            </a:r>
            <a:r>
              <a:rPr lang="en-GB" dirty="0"/>
              <a:t>to start and stop sessions</a:t>
            </a:r>
          </a:p>
          <a:p>
            <a:r>
              <a:rPr lang="en-GB" noProof="0" dirty="0"/>
              <a:t>Creation of c</a:t>
            </a:r>
            <a:r>
              <a:rPr lang="en-GB" dirty="0"/>
              <a:t>harts for easier understanding/adding statistic analysis (number of certain punches, highest velocity, …)</a:t>
            </a:r>
            <a:endParaRPr lang="en-GB" noProof="0" dirty="0"/>
          </a:p>
          <a:p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D3B9EB-9901-5950-F169-B1D0A08C5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A053F44-783F-C8DC-CE39-9F9027F85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12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FDB87BB3-2B66-4842-355C-9286C653C6EA}"/>
              </a:ext>
            </a:extLst>
          </p:cNvPr>
          <p:cNvSpPr/>
          <p:nvPr/>
        </p:nvSpPr>
        <p:spPr bwMode="auto">
          <a:xfrm>
            <a:off x="388302" y="681037"/>
            <a:ext cx="11522076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000" b="1" kern="0" dirty="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lang="en-GB" sz="2000" b="1" kern="0" noProof="0" dirty="0">
                <a:solidFill>
                  <a:srgbClr val="FFFFFF"/>
                </a:solidFill>
                <a:latin typeface="Arial"/>
                <a:cs typeface="Arial"/>
              </a:rPr>
              <a:t> the future </a:t>
            </a:r>
            <a:endParaRPr lang="en-GB" sz="2000" b="1" i="1" kern="0" baseline="30000" noProof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4629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008C3-ED2D-EB62-394B-433722099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A040E-1E96-2C07-B001-F42A0250F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F8CDC0-BC9F-14E4-28C1-E083C63F0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CDA017-7409-470C-BDAC-910FD8EB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4323A6F-8BD8-7FEF-6E7C-D070DC6A6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13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9F550BB5-19AF-75E8-64F7-05BABF369E56}"/>
              </a:ext>
            </a:extLst>
          </p:cNvPr>
          <p:cNvSpPr/>
          <p:nvPr/>
        </p:nvSpPr>
        <p:spPr bwMode="auto">
          <a:xfrm>
            <a:off x="334962" y="365125"/>
            <a:ext cx="11522076" cy="58118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6000" b="1" kern="0" noProof="0" dirty="0">
                <a:solidFill>
                  <a:srgbClr val="FFFFFF"/>
                </a:solidFill>
                <a:latin typeface="Arial"/>
                <a:cs typeface="Arial"/>
              </a:rPr>
              <a:t>Demonstration</a:t>
            </a:r>
            <a:r>
              <a:rPr lang="en-GB" sz="2000" b="1" kern="0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en-GB" sz="2000" b="1" i="1" kern="0" baseline="30000" noProof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9918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FE37B-A8A4-7DB3-BEB2-DDA5B763F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AEA4DC-F199-EB31-C94A-11133538F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DDAACB-99BB-6170-0A2C-8EBAB1148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69C4BA-EF15-6CA1-572B-0396522A8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049F99-5A55-8940-7F57-531D9479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14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45492079-CC3B-A13A-1CB8-A2687315E1D2}"/>
              </a:ext>
            </a:extLst>
          </p:cNvPr>
          <p:cNvSpPr/>
          <p:nvPr/>
        </p:nvSpPr>
        <p:spPr bwMode="auto">
          <a:xfrm>
            <a:off x="334962" y="365125"/>
            <a:ext cx="11522076" cy="58118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6000" b="1" kern="0" noProof="0" dirty="0">
                <a:solidFill>
                  <a:srgbClr val="FFFFFF"/>
                </a:solidFill>
                <a:latin typeface="Arial"/>
                <a:cs typeface="Arial"/>
              </a:rPr>
              <a:t>Thank you for your attention</a:t>
            </a:r>
            <a:r>
              <a:rPr lang="en-GB" sz="2000" b="1" kern="0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en-GB" sz="2000" b="1" i="1" kern="0" baseline="30000" noProof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1527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1a47b5-10f0-4178-af4a-bbe7cc4004c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041D5FB7F9ADB4FA3268D6933894E4E" ma:contentTypeVersion="11" ma:contentTypeDescription="Ein neues Dokument erstellen." ma:contentTypeScope="" ma:versionID="1716f861161e7a5f6104ad8e56853467">
  <xsd:schema xmlns:xsd="http://www.w3.org/2001/XMLSchema" xmlns:xs="http://www.w3.org/2001/XMLSchema" xmlns:p="http://schemas.microsoft.com/office/2006/metadata/properties" xmlns:ns3="bf1a47b5-10f0-4178-af4a-bbe7cc4004c3" targetNamespace="http://schemas.microsoft.com/office/2006/metadata/properties" ma:root="true" ma:fieldsID="8ee1bf931531000dc41501df99fd4e2b" ns3:_="">
    <xsd:import namespace="bf1a47b5-10f0-4178-af4a-bbe7cc4004c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1a47b5-10f0-4178-af4a-bbe7cc4004c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2945CB-A677-4013-820C-0AEFE2C4DC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2A40F2-5398-4DE1-A8FC-C0BA56DCE4EA}">
  <ds:schemaRefs>
    <ds:schemaRef ds:uri="bf1a47b5-10f0-4178-af4a-bbe7cc4004c3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68909959-C625-4C65-88C3-A1F8ACE56D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1a47b5-10f0-4178-af4a-bbe7cc4004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Microsoft Office PowerPoint</Application>
  <PresentationFormat>Breitbild</PresentationFormat>
  <Paragraphs>91</Paragraphs>
  <Slides>14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</vt:lpstr>
      <vt:lpstr>PowerPoint-Präsentation</vt:lpstr>
      <vt:lpstr>PowerPoint-Präsentation</vt:lpstr>
      <vt:lpstr>Design of Holder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Riedelberger, Tobias</dc:creator>
  <cp:lastModifiedBy>Holzner, Tobias</cp:lastModifiedBy>
  <cp:revision>2</cp:revision>
  <dcterms:created xsi:type="dcterms:W3CDTF">2026-02-20T16:22:17Z</dcterms:created>
  <dcterms:modified xsi:type="dcterms:W3CDTF">2026-02-21T11:01:25Z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0x010100B041D5FB7F9ADB4FA3268D6933894E4E</vt:lpwstr>
  </property>
</Properties>
</file>